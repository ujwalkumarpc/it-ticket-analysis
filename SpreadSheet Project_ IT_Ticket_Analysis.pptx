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26"/>
  </p:notesMasterIdLst>
  <p:sldIdLst>
    <p:sldId id="256" r:id="rId2"/>
    <p:sldId id="257" r:id="rId3"/>
    <p:sldId id="258" r:id="rId4"/>
    <p:sldId id="276" r:id="rId5"/>
    <p:sldId id="275" r:id="rId6"/>
    <p:sldId id="259" r:id="rId7"/>
    <p:sldId id="277" r:id="rId8"/>
    <p:sldId id="278" r:id="rId9"/>
    <p:sldId id="279" r:id="rId10"/>
    <p:sldId id="287" r:id="rId11"/>
    <p:sldId id="288" r:id="rId12"/>
    <p:sldId id="289" r:id="rId13"/>
    <p:sldId id="290" r:id="rId14"/>
    <p:sldId id="297" r:id="rId15"/>
    <p:sldId id="298" r:id="rId16"/>
    <p:sldId id="291" r:id="rId17"/>
    <p:sldId id="299" r:id="rId18"/>
    <p:sldId id="295" r:id="rId19"/>
    <p:sldId id="296" r:id="rId20"/>
    <p:sldId id="282" r:id="rId21"/>
    <p:sldId id="283" r:id="rId22"/>
    <p:sldId id="284" r:id="rId23"/>
    <p:sldId id="285" r:id="rId24"/>
    <p:sldId id="274" r:id="rId25"/>
  </p:sldIdLst>
  <p:sldSz cx="9144000" cy="5143500" type="screen16x9"/>
  <p:notesSz cx="6858000" cy="9144000"/>
  <p:embeddedFontLst>
    <p:embeddedFont>
      <p:font typeface="Gill Sans MT" panose="020B0502020104020203" pitchFamily="34" charset="0"/>
      <p:regular r:id="rId27"/>
      <p:bold r:id="rId28"/>
      <p:italic r:id="rId29"/>
      <p:boldItalic r:id="rId30"/>
    </p:embeddedFont>
    <p:embeddedFont>
      <p:font typeface="Lato" panose="020F0502020204030203" pitchFamily="34" charset="0"/>
      <p:regular r:id="rId31"/>
      <p:bold r:id="rId32"/>
      <p:italic r:id="rId33"/>
      <p:boldItalic r:id="rId3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8" roundtripDataSignature="AMtx7mi88Vt6ETuADRH3e2n9zb5H2ToL7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E445A5-5847-4872-8C63-D65871A1C9D3}" v="3" dt="2026-07-02T16:13:19.9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393" y="45"/>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customschemas.google.com/relationships/presentationmetadata" Target="meta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jwal Kumar" userId="06ab6a96dcf68f2b" providerId="LiveId" clId="{B9C5DD4C-483C-4DFC-824F-F3FA16B7E450}"/>
    <pc:docChg chg="undo custSel modSld">
      <pc:chgData name="Ujwal Kumar" userId="06ab6a96dcf68f2b" providerId="LiveId" clId="{B9C5DD4C-483C-4DFC-824F-F3FA16B7E450}" dt="2026-07-02T16:11:47.155" v="40" actId="20577"/>
      <pc:docMkLst>
        <pc:docMk/>
      </pc:docMkLst>
      <pc:sldChg chg="modSp mod">
        <pc:chgData name="Ujwal Kumar" userId="06ab6a96dcf68f2b" providerId="LiveId" clId="{B9C5DD4C-483C-4DFC-824F-F3FA16B7E450}" dt="2026-07-02T16:11:47.155" v="40" actId="20577"/>
        <pc:sldMkLst>
          <pc:docMk/>
          <pc:sldMk cId="0" sldId="256"/>
        </pc:sldMkLst>
        <pc:spChg chg="mod">
          <ac:chgData name="Ujwal Kumar" userId="06ab6a96dcf68f2b" providerId="LiveId" clId="{B9C5DD4C-483C-4DFC-824F-F3FA16B7E450}" dt="2026-07-02T16:11:47.155" v="40" actId="20577"/>
          <ac:spMkLst>
            <pc:docMk/>
            <pc:sldMk cId="0" sldId="256"/>
            <ac:spMk id="3" creationId="{3BDE4677-5E98-CB80-EDB1-8EC3CD55793F}"/>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Deeksha%20R%20K\OneDrive\Desktop\Spreadsheet%20Project(R)\IT%20Tickets%20Analysis%20(1).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Deeksha%20R%20K\OneDrive\Desktop\Spreadsheet%20Project(R)\IT%20Tickets%20Analysis%20(1).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Deeksha%20R%20K\OneDrive\Desktop\Spreadsheet%20Project(R)\IT%20Tickets%20Analysis%20(1).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Deeksha%20R%20K\OneDrive\Desktop\Spreadsheet%20Project(R)\IT%20Tickets%20Analysis%20(1).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Deeksha%20R%20K\OneDrive\Desktop\Spreadsheet%20Project(R)\IT%20Tickets%20Analysis%20(1).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Deeksha%20R%20K\OneDrive\Desktop\Spreadsheet%20Project(R)\IT%20Tickets%20Analysis%20(1).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Deeksha%20R%20K\Downloads\IT%20Tickets%20Analysis%20(1).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Deeksha%20R%20K\OneDrive\Desktop\Spreadsheet%20Project(R)\IT%20Tickets%20Analysis%20(1).xlsx" TargetMode="External"/><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 Tickets Analysis (1).xlsx]Pivot Tables!PivotTable15</c:name>
    <c:fmtId val="36"/>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No</a:t>
            </a:r>
            <a:r>
              <a:rPr lang="en-IN" baseline="0"/>
              <a:t> of Tickets across different Request Category</a:t>
            </a:r>
            <a:endParaRPr lang="en-IN"/>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N"/>
        </a:p>
      </c:txPr>
    </c:title>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19050">
            <a:solidFill>
              <a:schemeClr val="lt1"/>
            </a:solidFill>
          </a:ln>
          <a:effectLst/>
        </c:spPr>
      </c:pivotFmt>
      <c:pivotFmt>
        <c:idx val="7"/>
        <c:spPr>
          <a:solidFill>
            <a:schemeClr val="accent1"/>
          </a:solidFill>
          <a:ln w="19050">
            <a:solidFill>
              <a:schemeClr val="lt1"/>
            </a:solidFill>
          </a:ln>
          <a:effectLst/>
        </c:spPr>
      </c:pivotFmt>
      <c:pivotFmt>
        <c:idx val="8"/>
        <c:spPr>
          <a:solidFill>
            <a:schemeClr val="accent1"/>
          </a:solidFill>
          <a:ln w="19050">
            <a:solidFill>
              <a:schemeClr val="lt1"/>
            </a:solidFill>
          </a:ln>
          <a:effectLst/>
        </c:spPr>
      </c:pivotFmt>
      <c:pivotFmt>
        <c:idx val="9"/>
        <c:spPr>
          <a:solidFill>
            <a:schemeClr val="accent1"/>
          </a:solidFill>
          <a:ln w="19050">
            <a:solidFill>
              <a:schemeClr val="lt1"/>
            </a:solidFill>
          </a:ln>
          <a:effectLst/>
        </c:spPr>
      </c:pivotFmt>
      <c:pivotFmt>
        <c:idx val="1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w="19050">
            <a:solidFill>
              <a:schemeClr val="lt1"/>
            </a:solidFill>
          </a:ln>
          <a:effectLst/>
        </c:spPr>
      </c:pivotFmt>
      <c:pivotFmt>
        <c:idx val="12"/>
        <c:spPr>
          <a:solidFill>
            <a:schemeClr val="accent1"/>
          </a:solidFill>
          <a:ln w="19050">
            <a:solidFill>
              <a:schemeClr val="lt1"/>
            </a:solidFill>
          </a:ln>
          <a:effectLst/>
        </c:spPr>
      </c:pivotFmt>
      <c:pivotFmt>
        <c:idx val="13"/>
        <c:spPr>
          <a:solidFill>
            <a:schemeClr val="accent1"/>
          </a:solidFill>
          <a:ln w="19050">
            <a:solidFill>
              <a:schemeClr val="lt1"/>
            </a:solidFill>
          </a:ln>
          <a:effectLst/>
        </c:spPr>
      </c:pivotFmt>
      <c:pivotFmt>
        <c:idx val="14"/>
        <c:spPr>
          <a:solidFill>
            <a:schemeClr val="accent1"/>
          </a:solidFill>
          <a:ln w="19050">
            <a:solidFill>
              <a:schemeClr val="lt1"/>
            </a:solidFill>
          </a:ln>
          <a:effectLst/>
        </c:spPr>
      </c:pivotFmt>
      <c:pivotFmt>
        <c:idx val="15"/>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6"/>
        <c:spPr>
          <a:solidFill>
            <a:schemeClr val="accent1"/>
          </a:solidFill>
          <a:ln w="19050">
            <a:solidFill>
              <a:schemeClr val="lt1"/>
            </a:solidFill>
          </a:ln>
          <a:effectLst/>
        </c:spPr>
      </c:pivotFmt>
      <c:pivotFmt>
        <c:idx val="17"/>
        <c:spPr>
          <a:solidFill>
            <a:schemeClr val="accent1"/>
          </a:solidFill>
          <a:ln w="19050">
            <a:solidFill>
              <a:schemeClr val="lt1"/>
            </a:solidFill>
          </a:ln>
          <a:effectLst/>
        </c:spPr>
      </c:pivotFmt>
      <c:pivotFmt>
        <c:idx val="18"/>
        <c:spPr>
          <a:solidFill>
            <a:schemeClr val="accent1"/>
          </a:solidFill>
          <a:ln w="19050">
            <a:solidFill>
              <a:schemeClr val="lt1"/>
            </a:solidFill>
          </a:ln>
          <a:effectLst/>
        </c:spPr>
      </c:pivotFmt>
      <c:pivotFmt>
        <c:idx val="19"/>
        <c:spPr>
          <a:solidFill>
            <a:schemeClr val="accent1"/>
          </a:solidFill>
          <a:ln w="19050">
            <a:solidFill>
              <a:schemeClr val="lt1"/>
            </a:solidFill>
          </a:ln>
          <a:effectLst/>
        </c:spPr>
      </c:pivotFmt>
      <c:pivotFmt>
        <c:idx val="2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21"/>
        <c:spPr>
          <a:solidFill>
            <a:schemeClr val="accent1"/>
          </a:solidFill>
          <a:ln w="19050">
            <a:solidFill>
              <a:schemeClr val="lt1"/>
            </a:solidFill>
          </a:ln>
          <a:effectLst/>
        </c:spPr>
      </c:pivotFmt>
      <c:pivotFmt>
        <c:idx val="22"/>
        <c:spPr>
          <a:solidFill>
            <a:schemeClr val="accent1"/>
          </a:solidFill>
          <a:ln w="19050">
            <a:solidFill>
              <a:schemeClr val="lt1"/>
            </a:solidFill>
          </a:ln>
          <a:effectLst/>
        </c:spPr>
      </c:pivotFmt>
      <c:pivotFmt>
        <c:idx val="23"/>
        <c:spPr>
          <a:solidFill>
            <a:schemeClr val="accent1"/>
          </a:solidFill>
          <a:ln w="19050">
            <a:solidFill>
              <a:schemeClr val="lt1"/>
            </a:solidFill>
          </a:ln>
          <a:effectLst/>
        </c:spPr>
      </c:pivotFmt>
      <c:pivotFmt>
        <c:idx val="24"/>
        <c:spPr>
          <a:solidFill>
            <a:schemeClr val="accent1"/>
          </a:solidFill>
          <a:ln w="19050">
            <a:solidFill>
              <a:schemeClr val="lt1"/>
            </a:solidFill>
          </a:ln>
          <a:effectLst/>
        </c:spPr>
      </c:pivotFmt>
      <c:pivotFmt>
        <c:idx val="25"/>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26"/>
        <c:spPr>
          <a:solidFill>
            <a:schemeClr val="accent1"/>
          </a:solidFill>
          <a:ln w="19050">
            <a:solidFill>
              <a:schemeClr val="lt1"/>
            </a:solidFill>
          </a:ln>
          <a:effectLst/>
        </c:spPr>
      </c:pivotFmt>
      <c:pivotFmt>
        <c:idx val="27"/>
        <c:spPr>
          <a:solidFill>
            <a:schemeClr val="accent1"/>
          </a:solidFill>
          <a:ln w="19050">
            <a:solidFill>
              <a:schemeClr val="lt1"/>
            </a:solidFill>
          </a:ln>
          <a:effectLst/>
        </c:spPr>
      </c:pivotFmt>
      <c:pivotFmt>
        <c:idx val="28"/>
        <c:spPr>
          <a:solidFill>
            <a:schemeClr val="accent1"/>
          </a:solidFill>
          <a:ln w="19050">
            <a:solidFill>
              <a:schemeClr val="lt1"/>
            </a:solidFill>
          </a:ln>
          <a:effectLst/>
        </c:spPr>
      </c:pivotFmt>
      <c:pivotFmt>
        <c:idx val="29"/>
        <c:spPr>
          <a:solidFill>
            <a:schemeClr val="accent1"/>
          </a:solidFill>
          <a:ln w="19050">
            <a:solidFill>
              <a:schemeClr val="lt1"/>
            </a:solidFill>
          </a:ln>
          <a:effectLst/>
        </c:spPr>
      </c:pivotFmt>
      <c:pivotFmt>
        <c:idx val="3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31"/>
        <c:spPr>
          <a:solidFill>
            <a:schemeClr val="accent1"/>
          </a:solidFill>
          <a:ln w="19050">
            <a:solidFill>
              <a:schemeClr val="lt1"/>
            </a:solidFill>
          </a:ln>
          <a:effectLst/>
        </c:spPr>
      </c:pivotFmt>
      <c:pivotFmt>
        <c:idx val="32"/>
        <c:spPr>
          <a:solidFill>
            <a:schemeClr val="accent1"/>
          </a:solidFill>
          <a:ln w="19050">
            <a:solidFill>
              <a:schemeClr val="lt1"/>
            </a:solidFill>
          </a:ln>
          <a:effectLst/>
        </c:spPr>
      </c:pivotFmt>
      <c:pivotFmt>
        <c:idx val="33"/>
        <c:spPr>
          <a:solidFill>
            <a:schemeClr val="accent1"/>
          </a:solidFill>
          <a:ln w="19050">
            <a:solidFill>
              <a:schemeClr val="lt1"/>
            </a:solidFill>
          </a:ln>
          <a:effectLst/>
        </c:spPr>
      </c:pivotFmt>
      <c:pivotFmt>
        <c:idx val="34"/>
        <c:spPr>
          <a:solidFill>
            <a:schemeClr val="accent1"/>
          </a:solidFill>
          <a:ln w="19050">
            <a:solidFill>
              <a:schemeClr val="lt1"/>
            </a:solidFill>
          </a:ln>
          <a:effectLst/>
        </c:spPr>
      </c:pivotFmt>
    </c:pivotFmts>
    <c:plotArea>
      <c:layout/>
      <c:pieChart>
        <c:varyColors val="1"/>
        <c:ser>
          <c:idx val="0"/>
          <c:order val="0"/>
          <c:tx>
            <c:strRef>
              <c:f>'Pivot Tables'!$AJ$3</c:f>
              <c:strCache>
                <c:ptCount val="1"/>
                <c:pt idx="0">
                  <c:v>Total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939E-4056-9F4E-CB8858BF8050}"/>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939E-4056-9F4E-CB8858BF8050}"/>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939E-4056-9F4E-CB8858BF8050}"/>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939E-4056-9F4E-CB8858BF8050}"/>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'Pivot Tables'!$AI$4:$AI$8</c:f>
              <c:strCache>
                <c:ptCount val="4"/>
                <c:pt idx="0">
                  <c:v>Hardware</c:v>
                </c:pt>
                <c:pt idx="1">
                  <c:v>Login Access</c:v>
                </c:pt>
                <c:pt idx="2">
                  <c:v>Software</c:v>
                </c:pt>
                <c:pt idx="3">
                  <c:v>System</c:v>
                </c:pt>
              </c:strCache>
            </c:strRef>
          </c:cat>
          <c:val>
            <c:numRef>
              <c:f>'Pivot Tables'!$AJ$4:$AJ$8</c:f>
              <c:numCache>
                <c:formatCode>General</c:formatCode>
                <c:ptCount val="4"/>
                <c:pt idx="0">
                  <c:v>9733</c:v>
                </c:pt>
                <c:pt idx="1">
                  <c:v>29193</c:v>
                </c:pt>
                <c:pt idx="2">
                  <c:v>19570</c:v>
                </c:pt>
                <c:pt idx="3">
                  <c:v>39002</c:v>
                </c:pt>
              </c:numCache>
            </c:numRef>
          </c:val>
          <c:extLst>
            <c:ext xmlns:c16="http://schemas.microsoft.com/office/drawing/2014/chart" uri="{C3380CC4-5D6E-409C-BE32-E72D297353CC}">
              <c16:uniqueId val="{00000008-939E-4056-9F4E-CB8858BF8050}"/>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 Tickets Analysis (1).xlsx]Pivot Table 2!PivotTable7</c:name>
    <c:fmtId val="6"/>
  </c:pivotSource>
  <c:chart>
    <c:title>
      <c:tx>
        <c:rich>
          <a:bodyPr rot="0" spcFirstLastPara="1" vertOverflow="ellipsis" vert="horz" wrap="square" anchor="ctr" anchorCtr="1"/>
          <a:lstStyle/>
          <a:p>
            <a:pPr>
              <a:defRPr sz="1995" b="1" i="0" u="none" strike="noStrike" kern="1200" cap="all" spc="100" normalizeH="0" baseline="0">
                <a:solidFill>
                  <a:schemeClr val="lt1"/>
                </a:solidFill>
                <a:latin typeface="+mn-lt"/>
                <a:ea typeface="+mn-ea"/>
                <a:cs typeface="+mn-cs"/>
              </a:defRPr>
            </a:pPr>
            <a:r>
              <a:rPr lang="en-IN"/>
              <a:t>No of Tickets Handled Over Years</a:t>
            </a:r>
          </a:p>
        </c:rich>
      </c:tx>
      <c:overlay val="0"/>
      <c:spPr>
        <a:noFill/>
        <a:ln>
          <a:noFill/>
        </a:ln>
        <a:effectLst/>
      </c:spPr>
      <c:txPr>
        <a:bodyPr rot="0" spcFirstLastPara="1" vertOverflow="ellipsis" vert="horz" wrap="square" anchor="ctr" anchorCtr="1"/>
        <a:lstStyle/>
        <a:p>
          <a:pPr>
            <a:defRPr sz="1995" b="1" i="0" u="none" strike="noStrike" kern="1200" cap="all" spc="100" normalizeH="0" baseline="0">
              <a:solidFill>
                <a:schemeClr val="lt1"/>
              </a:solidFill>
              <a:latin typeface="+mn-lt"/>
              <a:ea typeface="+mn-ea"/>
              <a:cs typeface="+mn-cs"/>
            </a:defRPr>
          </a:pPr>
          <a:endParaRPr lang="en-IN"/>
        </a:p>
      </c:txPr>
    </c:title>
    <c:autoTitleDeleted val="0"/>
    <c:pivotFmts>
      <c:pivotFmt>
        <c:idx val="0"/>
        <c:spPr>
          <a:pattFill prst="ltUpDiag">
            <a:fgClr>
              <a:schemeClr val="accent6"/>
            </a:fgClr>
            <a:bgClr>
              <a:schemeClr val="lt1"/>
            </a:bgClr>
          </a:pattFill>
          <a:ln>
            <a:noFill/>
          </a:ln>
          <a:effectLst/>
        </c:spPr>
        <c:marker>
          <c:symbol val="circle"/>
          <c:size val="5"/>
          <c:spPr>
            <a:solidFill>
              <a:schemeClr val="accent6"/>
            </a:solidFill>
            <a:ln w="22225">
              <a:solidFill>
                <a:schemeClr val="lt1"/>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pattFill prst="ltUpDiag">
            <a:fgClr>
              <a:schemeClr val="accent6"/>
            </a:fgClr>
            <a:bgClr>
              <a:schemeClr val="lt1"/>
            </a:bgClr>
          </a:pattFill>
          <a:ln>
            <a:noFill/>
          </a:ln>
          <a:effectLst/>
        </c:spPr>
        <c:marker>
          <c:symbol val="circle"/>
          <c:size val="5"/>
          <c:spPr>
            <a:solidFill>
              <a:schemeClr val="accent6"/>
            </a:solidFill>
            <a:ln w="22225">
              <a:solidFill>
                <a:schemeClr val="lt1"/>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pattFill prst="ltUpDiag">
            <a:fgClr>
              <a:schemeClr val="accent6"/>
            </a:fgClr>
            <a:bgClr>
              <a:schemeClr val="lt1"/>
            </a:bgClr>
          </a:pattFill>
          <a:ln>
            <a:noFill/>
          </a:ln>
          <a:effectLst/>
        </c:spPr>
        <c:marker>
          <c:symbol val="circle"/>
          <c:size val="5"/>
          <c:spPr>
            <a:solidFill>
              <a:schemeClr val="accent6"/>
            </a:solidFill>
            <a:ln w="22225">
              <a:solidFill>
                <a:schemeClr val="lt1"/>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pattFill prst="ltUpDiag">
            <a:fgClr>
              <a:schemeClr val="accent6"/>
            </a:fgClr>
            <a:bgClr>
              <a:schemeClr val="lt1"/>
            </a:bgClr>
          </a:pattFill>
          <a:ln>
            <a:noFill/>
          </a:ln>
          <a:effectLst/>
        </c:spPr>
        <c:marker>
          <c:symbol val="circle"/>
          <c:size val="5"/>
          <c:spPr>
            <a:solidFill>
              <a:schemeClr val="accent6"/>
            </a:solidFill>
            <a:ln w="22225">
              <a:solidFill>
                <a:schemeClr val="lt1"/>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pattFill prst="ltUpDiag">
            <a:fgClr>
              <a:schemeClr val="accent6"/>
            </a:fgClr>
            <a:bgClr>
              <a:schemeClr val="lt1"/>
            </a:bgClr>
          </a:pattFill>
          <a:ln>
            <a:noFill/>
          </a:ln>
          <a:effectLst/>
        </c:spPr>
        <c:marker>
          <c:symbol val="circle"/>
          <c:size val="5"/>
          <c:spPr>
            <a:solidFill>
              <a:schemeClr val="accent6"/>
            </a:solidFill>
            <a:ln w="22225">
              <a:solidFill>
                <a:schemeClr val="lt1"/>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'Pivot Table 2'!$AE$1</c:f>
              <c:strCache>
                <c:ptCount val="1"/>
                <c:pt idx="0">
                  <c:v>Total</c:v>
                </c:pt>
              </c:strCache>
            </c:strRef>
          </c:tx>
          <c:spPr>
            <a:ln w="34925" cap="rnd">
              <a:solidFill>
                <a:schemeClr val="lt1"/>
              </a:solidFill>
              <a:round/>
            </a:ln>
            <a:effectLst>
              <a:outerShdw dist="25400" dir="2700000" algn="tl" rotWithShape="0">
                <a:schemeClr val="accent6"/>
              </a:outerShdw>
            </a:effectLst>
          </c:spPr>
          <c:marker>
            <c:symbol val="none"/>
          </c:marker>
          <c:cat>
            <c:strRef>
              <c:f>'Pivot Table 2'!$AD$2:$AD$7</c:f>
              <c:strCache>
                <c:ptCount val="5"/>
                <c:pt idx="0">
                  <c:v>2016</c:v>
                </c:pt>
                <c:pt idx="1">
                  <c:v>2017</c:v>
                </c:pt>
                <c:pt idx="2">
                  <c:v>2018</c:v>
                </c:pt>
                <c:pt idx="3">
                  <c:v>2019</c:v>
                </c:pt>
                <c:pt idx="4">
                  <c:v>2020</c:v>
                </c:pt>
              </c:strCache>
            </c:strRef>
          </c:cat>
          <c:val>
            <c:numRef>
              <c:f>'Pivot Table 2'!$AE$2:$AE$7</c:f>
              <c:numCache>
                <c:formatCode>General</c:formatCode>
                <c:ptCount val="5"/>
                <c:pt idx="0">
                  <c:v>13051</c:v>
                </c:pt>
                <c:pt idx="1">
                  <c:v>14915</c:v>
                </c:pt>
                <c:pt idx="2">
                  <c:v>18954</c:v>
                </c:pt>
                <c:pt idx="3">
                  <c:v>21490</c:v>
                </c:pt>
                <c:pt idx="4">
                  <c:v>29088</c:v>
                </c:pt>
              </c:numCache>
            </c:numRef>
          </c:val>
          <c:smooth val="0"/>
          <c:extLst>
            <c:ext xmlns:c16="http://schemas.microsoft.com/office/drawing/2014/chart" uri="{C3380CC4-5D6E-409C-BE32-E72D297353CC}">
              <c16:uniqueId val="{00000000-B335-46F4-929D-9B3A5104E0DC}"/>
            </c:ext>
          </c:extLst>
        </c:ser>
        <c:dLbls>
          <c:showLegendKey val="0"/>
          <c:showVal val="0"/>
          <c:showCatName val="0"/>
          <c:showSerName val="0"/>
          <c:showPercent val="0"/>
          <c:showBubbleSize val="0"/>
        </c:dLbls>
        <c:dropLines>
          <c:spPr>
            <a:ln w="9525" cap="flat" cmpd="sng" algn="ctr">
              <a:gradFill>
                <a:gsLst>
                  <a:gs pos="0">
                    <a:schemeClr val="lt1"/>
                  </a:gs>
                  <a:gs pos="100000">
                    <a:schemeClr val="lt1">
                      <a:alpha val="0"/>
                    </a:schemeClr>
                  </a:gs>
                </a:gsLst>
                <a:lin ang="5400000" scaled="0"/>
              </a:gradFill>
              <a:round/>
            </a:ln>
            <a:effectLst/>
          </c:spPr>
        </c:dropLines>
        <c:smooth val="0"/>
        <c:axId val="539325680"/>
        <c:axId val="539326160"/>
      </c:lineChart>
      <c:catAx>
        <c:axId val="539325680"/>
        <c:scaling>
          <c:orientation val="minMax"/>
        </c:scaling>
        <c:delete val="0"/>
        <c:axPos val="b"/>
        <c:title>
          <c:tx>
            <c:rich>
              <a:bodyPr rot="0" spcFirstLastPara="1" vertOverflow="ellipsis" vert="horz" wrap="square" anchor="ctr" anchorCtr="1"/>
              <a:lstStyle/>
              <a:p>
                <a:pPr>
                  <a:defRPr sz="1197" b="1" i="0" u="none" strike="noStrike" kern="1200" baseline="0">
                    <a:solidFill>
                      <a:schemeClr val="lt1"/>
                    </a:solidFill>
                    <a:latin typeface="+mn-lt"/>
                    <a:ea typeface="+mn-ea"/>
                    <a:cs typeface="+mn-cs"/>
                  </a:defRPr>
                </a:pPr>
                <a:r>
                  <a:rPr lang="en-IN"/>
                  <a:t>Years</a:t>
                </a:r>
              </a:p>
            </c:rich>
          </c:tx>
          <c:overlay val="0"/>
          <c:spPr>
            <a:noFill/>
            <a:ln>
              <a:noFill/>
            </a:ln>
            <a:effectLst/>
          </c:spPr>
          <c:txPr>
            <a:bodyPr rot="0" spcFirstLastPara="1" vertOverflow="ellipsis" vert="horz" wrap="square" anchor="ctr" anchorCtr="1"/>
            <a:lstStyle/>
            <a:p>
              <a:pPr>
                <a:defRPr sz="1197" b="1" i="0" u="none" strike="noStrike" kern="1200" baseline="0">
                  <a:solidFill>
                    <a:schemeClr val="lt1"/>
                  </a:solidFill>
                  <a:latin typeface="+mn-lt"/>
                  <a:ea typeface="+mn-ea"/>
                  <a:cs typeface="+mn-cs"/>
                </a:defRPr>
              </a:pPr>
              <a:endParaRPr lang="en-US"/>
            </a:p>
          </c:txPr>
        </c:title>
        <c:numFmt formatCode="General" sourceLinked="1"/>
        <c:majorTickMark val="none"/>
        <c:minorTickMark val="none"/>
        <c:tickLblPos val="nextTo"/>
        <c:spPr>
          <a:noFill/>
          <a:ln w="12700" cap="flat" cmpd="sng" algn="ctr">
            <a:solidFill>
              <a:schemeClr val="lt1"/>
            </a:solidFill>
            <a:round/>
          </a:ln>
          <a:effectLst/>
        </c:spPr>
        <c:txPr>
          <a:bodyPr rot="-60000000" spcFirstLastPara="1" vertOverflow="ellipsis" vert="horz" wrap="square" anchor="ctr" anchorCtr="1"/>
          <a:lstStyle/>
          <a:p>
            <a:pPr>
              <a:defRPr sz="1197" b="0" i="0" u="none" strike="noStrike" kern="1200" spc="100" baseline="0">
                <a:solidFill>
                  <a:schemeClr val="lt1"/>
                </a:solidFill>
                <a:latin typeface="+mn-lt"/>
                <a:ea typeface="+mn-ea"/>
                <a:cs typeface="+mn-cs"/>
              </a:defRPr>
            </a:pPr>
            <a:endParaRPr lang="en-US"/>
          </a:p>
        </c:txPr>
        <c:crossAx val="539326160"/>
        <c:crosses val="autoZero"/>
        <c:auto val="1"/>
        <c:lblAlgn val="ctr"/>
        <c:lblOffset val="100"/>
        <c:noMultiLvlLbl val="0"/>
      </c:catAx>
      <c:valAx>
        <c:axId val="539326160"/>
        <c:scaling>
          <c:orientation val="minMax"/>
        </c:scaling>
        <c:delete val="0"/>
        <c:axPos val="l"/>
        <c:title>
          <c:tx>
            <c:rich>
              <a:bodyPr rot="-5400000" spcFirstLastPara="1" vertOverflow="ellipsis" vert="horz" wrap="square" anchor="ctr" anchorCtr="1"/>
              <a:lstStyle/>
              <a:p>
                <a:pPr>
                  <a:defRPr sz="1197" b="1" i="0" u="none" strike="noStrike" kern="1200" baseline="0">
                    <a:solidFill>
                      <a:schemeClr val="lt1"/>
                    </a:solidFill>
                    <a:latin typeface="+mn-lt"/>
                    <a:ea typeface="+mn-ea"/>
                    <a:cs typeface="+mn-cs"/>
                  </a:defRPr>
                </a:pPr>
                <a:r>
                  <a:rPr lang="en-IN"/>
                  <a:t> No of Tickets</a:t>
                </a:r>
              </a:p>
            </c:rich>
          </c:tx>
          <c:overlay val="0"/>
          <c:spPr>
            <a:noFill/>
            <a:ln>
              <a:noFill/>
            </a:ln>
            <a:effectLst/>
          </c:spPr>
          <c:txPr>
            <a:bodyPr rot="-5400000" spcFirstLastPara="1" vertOverflow="ellipsis" vert="horz" wrap="square" anchor="ctr" anchorCtr="1"/>
            <a:lstStyle/>
            <a:p>
              <a:pPr>
                <a:defRPr sz="1197" b="1" i="0" u="none" strike="noStrike" kern="1200" baseline="0">
                  <a:solidFill>
                    <a:schemeClr val="lt1"/>
                  </a:solidFill>
                  <a:latin typeface="+mn-lt"/>
                  <a:ea typeface="+mn-ea"/>
                  <a:cs typeface="+mn-cs"/>
                </a:defRPr>
              </a:pPr>
              <a:endParaRPr lang="en-I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solidFill>
                <a:latin typeface="+mn-lt"/>
                <a:ea typeface="+mn-ea"/>
                <a:cs typeface="+mn-cs"/>
              </a:defRPr>
            </a:pPr>
            <a:endParaRPr lang="en-US"/>
          </a:p>
        </c:txPr>
        <c:crossAx val="53932568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accent6"/>
    </a:solidFill>
    <a:ln w="9525" cap="flat" cmpd="sng" algn="ctr">
      <a:solidFill>
        <a:schemeClr val="accent6"/>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 Tickets Analysis (1).xlsx]Pivot Table 3!PivotTable3</c:name>
    <c:fmtId val="18"/>
  </c:pivotSource>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Tickets Vs Severity</a:t>
            </a:r>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1080000"/>
            </a:lightRig>
          </a:scene3d>
          <a:sp3d>
            <a:bevelT w="38100" h="12700" prst="softRound"/>
          </a:sp3d>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balanced" dir="t">
                <a:rot lat="0" lon="0" rev="1080000"/>
              </a:lightRig>
            </a:scene3d>
            <a:sp3d>
              <a:bevelT w="38100" h="12700" prst="softRound"/>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1080000"/>
            </a:lightRig>
          </a:scene3d>
          <a:sp3d>
            <a:bevelT w="38100" h="12700" prst="softRoun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1080000"/>
            </a:lightRig>
          </a:scene3d>
          <a:sp3d>
            <a:bevelT w="38100" h="12700" prst="softRoun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1080000"/>
            </a:lightRig>
          </a:scene3d>
          <a:sp3d>
            <a:bevelT w="38100" h="12700" prst="softRoun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1080000"/>
            </a:lightRig>
          </a:scene3d>
          <a:sp3d>
            <a:bevelT w="38100" h="12700" prst="softRoun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stacked"/>
        <c:varyColors val="0"/>
        <c:ser>
          <c:idx val="0"/>
          <c:order val="0"/>
          <c:tx>
            <c:strRef>
              <c:f>'Pivot Table 3'!$Q$2</c:f>
              <c:strCache>
                <c:ptCount val="1"/>
                <c:pt idx="0">
                  <c:v>Total</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balanced" dir="t">
                <a:rot lat="0" lon="0" rev="1080000"/>
              </a:lightRig>
            </a:scene3d>
            <a:sp3d>
              <a:bevelT w="38100" h="12700" prst="softRound"/>
            </a:sp3d>
          </c:spPr>
          <c:invertIfNegative val="0"/>
          <c:cat>
            <c:strRef>
              <c:f>'Pivot Table 3'!$P$3:$P$8</c:f>
              <c:strCache>
                <c:ptCount val="5"/>
                <c:pt idx="0">
                  <c:v> Mayor</c:v>
                </c:pt>
                <c:pt idx="1">
                  <c:v> Minor</c:v>
                </c:pt>
                <c:pt idx="2">
                  <c:v> Normal</c:v>
                </c:pt>
                <c:pt idx="3">
                  <c:v> Unclasified</c:v>
                </c:pt>
                <c:pt idx="4">
                  <c:v> Urgent</c:v>
                </c:pt>
              </c:strCache>
            </c:strRef>
          </c:cat>
          <c:val>
            <c:numRef>
              <c:f>'Pivot Table 3'!$Q$3:$Q$8</c:f>
              <c:numCache>
                <c:formatCode>General</c:formatCode>
                <c:ptCount val="5"/>
                <c:pt idx="0">
                  <c:v>4836</c:v>
                </c:pt>
                <c:pt idx="1">
                  <c:v>2258</c:v>
                </c:pt>
                <c:pt idx="2">
                  <c:v>88656</c:v>
                </c:pt>
                <c:pt idx="3">
                  <c:v>356</c:v>
                </c:pt>
                <c:pt idx="4">
                  <c:v>1392</c:v>
                </c:pt>
              </c:numCache>
            </c:numRef>
          </c:val>
          <c:extLst>
            <c:ext xmlns:c16="http://schemas.microsoft.com/office/drawing/2014/chart" uri="{C3380CC4-5D6E-409C-BE32-E72D297353CC}">
              <c16:uniqueId val="{00000000-23EB-4716-AB7D-464D6E38E45C}"/>
            </c:ext>
          </c:extLst>
        </c:ser>
        <c:dLbls>
          <c:showLegendKey val="0"/>
          <c:showVal val="0"/>
          <c:showCatName val="0"/>
          <c:showSerName val="0"/>
          <c:showPercent val="0"/>
          <c:showBubbleSize val="0"/>
        </c:dLbls>
        <c:gapWidth val="150"/>
        <c:overlap val="100"/>
        <c:axId val="495998047"/>
        <c:axId val="495999007"/>
      </c:barChart>
      <c:catAx>
        <c:axId val="495998047"/>
        <c:scaling>
          <c:orientation val="minMax"/>
        </c:scaling>
        <c:delete val="0"/>
        <c:axPos val="b"/>
        <c:title>
          <c:tx>
            <c:rich>
              <a:bodyPr rot="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r>
                  <a:rPr lang="en-IN"/>
                  <a:t>Severity</a:t>
                </a:r>
              </a:p>
            </c:rich>
          </c:tx>
          <c:overlay val="0"/>
          <c:spPr>
            <a:noFill/>
            <a:ln>
              <a:noFill/>
            </a:ln>
            <a:effectLst/>
          </c:spPr>
          <c:txPr>
            <a:bodyPr rot="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495999007"/>
        <c:crosses val="autoZero"/>
        <c:auto val="1"/>
        <c:lblAlgn val="ctr"/>
        <c:lblOffset val="100"/>
        <c:noMultiLvlLbl val="0"/>
      </c:catAx>
      <c:valAx>
        <c:axId val="495999007"/>
        <c:scaling>
          <c:orientation val="minMax"/>
        </c:scaling>
        <c:delete val="0"/>
        <c:axPos val="l"/>
        <c:title>
          <c:tx>
            <c:rich>
              <a:bodyPr rot="-540000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r>
                  <a:rPr lang="en-IN"/>
                  <a:t> No of Tickets</a:t>
                </a:r>
              </a:p>
            </c:rich>
          </c:tx>
          <c:overlay val="0"/>
          <c:spPr>
            <a:noFill/>
            <a:ln>
              <a:noFill/>
            </a:ln>
            <a:effectLst/>
          </c:spPr>
          <c:txPr>
            <a:bodyPr rot="-540000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49599804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 Tickets Analysis (1).xlsx]Pivot Table 3!PivotTable5</c:name>
    <c:fmtId val="1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solidFill>
                  <a:srgbClr val="00B050"/>
                </a:solidFill>
              </a:rPr>
              <a:t>Distribution</a:t>
            </a:r>
            <a:r>
              <a:rPr lang="en-IN" baseline="0">
                <a:solidFill>
                  <a:srgbClr val="00B050"/>
                </a:solidFill>
              </a:rPr>
              <a:t> of Tickets based on Resolution Time</a:t>
            </a:r>
            <a:endParaRPr lang="en-IN">
              <a:solidFill>
                <a:srgbClr val="00B050"/>
              </a:solidFill>
            </a:endParaRPr>
          </a:p>
        </c:rich>
      </c:tx>
      <c:overlay val="0"/>
      <c:spPr>
        <a:solidFill>
          <a:schemeClr val="accent4">
            <a:lumMod val="60000"/>
            <a:lumOff val="40000"/>
          </a:schemeClr>
        </a:solid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N"/>
        </a:p>
      </c:txPr>
    </c:title>
    <c:autoTitleDeleted val="0"/>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'Pivot Table 3'!$AI$1</c:f>
              <c:strCache>
                <c:ptCount val="1"/>
                <c:pt idx="0">
                  <c:v>Total</c:v>
                </c:pt>
              </c:strCache>
            </c:strRef>
          </c:tx>
          <c:spPr>
            <a:solidFill>
              <a:schemeClr val="accent2"/>
            </a:solidFill>
            <a:ln>
              <a:noFill/>
            </a:ln>
            <a:effectLst/>
          </c:spPr>
          <c:invertIfNegative val="0"/>
          <c:cat>
            <c:strRef>
              <c:f>'Pivot Table 3'!$AH$2:$AH$24</c:f>
              <c:strCache>
                <c:ptCount val="22"/>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strCache>
            </c:strRef>
          </c:cat>
          <c:val>
            <c:numRef>
              <c:f>'Pivot Table 3'!$AI$2:$AI$24</c:f>
              <c:numCache>
                <c:formatCode>General</c:formatCode>
                <c:ptCount val="22"/>
                <c:pt idx="0">
                  <c:v>25071</c:v>
                </c:pt>
                <c:pt idx="1">
                  <c:v>9277</c:v>
                </c:pt>
                <c:pt idx="2">
                  <c:v>6466</c:v>
                </c:pt>
                <c:pt idx="3">
                  <c:v>6200</c:v>
                </c:pt>
                <c:pt idx="4">
                  <c:v>4919</c:v>
                </c:pt>
                <c:pt idx="5">
                  <c:v>8789</c:v>
                </c:pt>
                <c:pt idx="6">
                  <c:v>7802</c:v>
                </c:pt>
                <c:pt idx="7">
                  <c:v>6582</c:v>
                </c:pt>
                <c:pt idx="8">
                  <c:v>4850</c:v>
                </c:pt>
                <c:pt idx="9">
                  <c:v>3739</c:v>
                </c:pt>
                <c:pt idx="10">
                  <c:v>3899</c:v>
                </c:pt>
                <c:pt idx="11">
                  <c:v>1732</c:v>
                </c:pt>
                <c:pt idx="12">
                  <c:v>1555</c:v>
                </c:pt>
                <c:pt idx="13">
                  <c:v>1712</c:v>
                </c:pt>
                <c:pt idx="14">
                  <c:v>1566</c:v>
                </c:pt>
                <c:pt idx="15">
                  <c:v>1360</c:v>
                </c:pt>
                <c:pt idx="16">
                  <c:v>1167</c:v>
                </c:pt>
                <c:pt idx="17">
                  <c:v>554</c:v>
                </c:pt>
                <c:pt idx="18">
                  <c:v>124</c:v>
                </c:pt>
                <c:pt idx="19">
                  <c:v>130</c:v>
                </c:pt>
                <c:pt idx="20">
                  <c:v>2</c:v>
                </c:pt>
                <c:pt idx="21">
                  <c:v>2</c:v>
                </c:pt>
              </c:numCache>
            </c:numRef>
          </c:val>
          <c:extLst>
            <c:ext xmlns:c16="http://schemas.microsoft.com/office/drawing/2014/chart" uri="{C3380CC4-5D6E-409C-BE32-E72D297353CC}">
              <c16:uniqueId val="{00000000-4C2E-41E3-A09D-B5708025400D}"/>
            </c:ext>
          </c:extLst>
        </c:ser>
        <c:dLbls>
          <c:showLegendKey val="0"/>
          <c:showVal val="0"/>
          <c:showCatName val="0"/>
          <c:showSerName val="0"/>
          <c:showPercent val="0"/>
          <c:showBubbleSize val="0"/>
        </c:dLbls>
        <c:gapWidth val="182"/>
        <c:axId val="391162415"/>
        <c:axId val="391174895"/>
      </c:barChart>
      <c:catAx>
        <c:axId val="391162415"/>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Resolution</a:t>
                </a:r>
                <a:r>
                  <a:rPr lang="en-IN" baseline="0"/>
                  <a:t> Time</a:t>
                </a:r>
                <a:endParaRPr lang="en-IN"/>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91174895"/>
        <c:crosses val="autoZero"/>
        <c:auto val="1"/>
        <c:lblAlgn val="ctr"/>
        <c:lblOffset val="100"/>
        <c:noMultiLvlLbl val="0"/>
      </c:catAx>
      <c:valAx>
        <c:axId val="391174895"/>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No</a:t>
                </a:r>
                <a:r>
                  <a:rPr lang="en-IN" baseline="0"/>
                  <a:t> of Tickets</a:t>
                </a:r>
                <a:endParaRPr lang="en-IN"/>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9116241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 Tickets Analysis (1).xlsx]Pivot Table 3!PivotTable4</c:name>
    <c:fmtId val="5"/>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400" b="0" i="0" u="none" strike="noStrike" baseline="0">
                <a:solidFill>
                  <a:schemeClr val="accent6">
                    <a:lumMod val="50000"/>
                  </a:schemeClr>
                </a:solidFill>
              </a:rPr>
              <a:t>Distribution of Tickets Based on Satisfaction Score</a:t>
            </a:r>
            <a:endParaRPr lang="en-US">
              <a:solidFill>
                <a:schemeClr val="accent6">
                  <a:lumMod val="50000"/>
                </a:schemeClr>
              </a:solidFill>
            </a:endParaRPr>
          </a:p>
        </c:rich>
      </c:tx>
      <c:overlay val="0"/>
      <c:spPr>
        <a:solidFill>
          <a:schemeClr val="accent1">
            <a:lumMod val="40000"/>
            <a:lumOff val="60000"/>
          </a:schemeClr>
        </a:solid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 Table 3'!$AA$1</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Table 3'!$Z$2:$Z$7</c:f>
              <c:strCache>
                <c:ptCount val="5"/>
                <c:pt idx="0">
                  <c:v>1</c:v>
                </c:pt>
                <c:pt idx="1">
                  <c:v>2</c:v>
                </c:pt>
                <c:pt idx="2">
                  <c:v>3</c:v>
                </c:pt>
                <c:pt idx="3">
                  <c:v>4</c:v>
                </c:pt>
                <c:pt idx="4">
                  <c:v>5</c:v>
                </c:pt>
              </c:strCache>
            </c:strRef>
          </c:cat>
          <c:val>
            <c:numRef>
              <c:f>'Pivot Table 3'!$AA$2:$AA$7</c:f>
              <c:numCache>
                <c:formatCode>General</c:formatCode>
                <c:ptCount val="5"/>
                <c:pt idx="0">
                  <c:v>9907</c:v>
                </c:pt>
                <c:pt idx="1">
                  <c:v>1977</c:v>
                </c:pt>
                <c:pt idx="2">
                  <c:v>7282</c:v>
                </c:pt>
                <c:pt idx="3">
                  <c:v>27562</c:v>
                </c:pt>
                <c:pt idx="4">
                  <c:v>50770</c:v>
                </c:pt>
              </c:numCache>
            </c:numRef>
          </c:val>
          <c:extLst>
            <c:ext xmlns:c16="http://schemas.microsoft.com/office/drawing/2014/chart" uri="{C3380CC4-5D6E-409C-BE32-E72D297353CC}">
              <c16:uniqueId val="{00000000-46D1-4DE5-9423-9120159ED46F}"/>
            </c:ext>
          </c:extLst>
        </c:ser>
        <c:dLbls>
          <c:dLblPos val="outEnd"/>
          <c:showLegendKey val="0"/>
          <c:showVal val="1"/>
          <c:showCatName val="0"/>
          <c:showSerName val="0"/>
          <c:showPercent val="0"/>
          <c:showBubbleSize val="0"/>
        </c:dLbls>
        <c:gapWidth val="219"/>
        <c:overlap val="-27"/>
        <c:axId val="496360111"/>
        <c:axId val="496357711"/>
      </c:barChart>
      <c:catAx>
        <c:axId val="496360111"/>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Satisfaction</a:t>
                </a:r>
                <a:r>
                  <a:rPr lang="en-IN" baseline="0"/>
                  <a:t> Score</a:t>
                </a:r>
                <a:endParaRPr lang="en-IN"/>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96357711"/>
        <c:crosses val="autoZero"/>
        <c:auto val="1"/>
        <c:lblAlgn val="ctr"/>
        <c:lblOffset val="100"/>
        <c:noMultiLvlLbl val="0"/>
      </c:catAx>
      <c:valAx>
        <c:axId val="496357711"/>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No</a:t>
                </a:r>
                <a:r>
                  <a:rPr lang="en-IN" baseline="0"/>
                  <a:t> of Tickets</a:t>
                </a:r>
                <a:endParaRPr lang="en-IN"/>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9636011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 Tickets Analysis (1).xlsx]Pivot Tables!PivotTable4</c:name>
    <c:fmtId val="57"/>
  </c:pivotSource>
  <c:chart>
    <c:autoTitleDeleted val="0"/>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'Pivot Tables'!$L$1</c:f>
              <c:strCache>
                <c:ptCount val="1"/>
                <c:pt idx="0">
                  <c:v>Average of Resolution Time (Days)</c:v>
                </c:pt>
              </c:strCache>
            </c:strRef>
          </c:tx>
          <c:spPr>
            <a:ln w="28575" cap="rnd">
              <a:solidFill>
                <a:schemeClr val="accent1"/>
              </a:solidFill>
              <a:round/>
            </a:ln>
            <a:effectLst/>
          </c:spPr>
          <c:marker>
            <c:symbol val="none"/>
          </c:marker>
          <c:cat>
            <c:multiLvlStrRef>
              <c:f>'Pivot Tables'!$K$2:$K$87</c:f>
              <c:multiLvlStrCache>
                <c:ptCount val="60"/>
                <c:lvl>
                  <c:pt idx="0">
                    <c:v>Jan</c:v>
                  </c:pt>
                  <c:pt idx="1">
                    <c:v>Feb</c:v>
                  </c:pt>
                  <c:pt idx="2">
                    <c:v>Mar</c:v>
                  </c:pt>
                  <c:pt idx="3">
                    <c:v>Apr</c:v>
                  </c:pt>
                  <c:pt idx="4">
                    <c:v>May</c:v>
                  </c:pt>
                  <c:pt idx="5">
                    <c:v>Jun</c:v>
                  </c:pt>
                  <c:pt idx="6">
                    <c:v>Jul</c:v>
                  </c:pt>
                  <c:pt idx="7">
                    <c:v>Aug</c:v>
                  </c:pt>
                  <c:pt idx="8">
                    <c:v>Sep</c:v>
                  </c:pt>
                  <c:pt idx="9">
                    <c:v>Oct</c:v>
                  </c:pt>
                  <c:pt idx="10">
                    <c:v>Nov</c:v>
                  </c:pt>
                  <c:pt idx="11">
                    <c:v>Dec</c:v>
                  </c:pt>
                  <c:pt idx="12">
                    <c:v>Jan</c:v>
                  </c:pt>
                  <c:pt idx="13">
                    <c:v>Feb</c:v>
                  </c:pt>
                  <c:pt idx="14">
                    <c:v>Mar</c:v>
                  </c:pt>
                  <c:pt idx="15">
                    <c:v>Apr</c:v>
                  </c:pt>
                  <c:pt idx="16">
                    <c:v>May</c:v>
                  </c:pt>
                  <c:pt idx="17">
                    <c:v>Jun</c:v>
                  </c:pt>
                  <c:pt idx="18">
                    <c:v>Jul</c:v>
                  </c:pt>
                  <c:pt idx="19">
                    <c:v>Aug</c:v>
                  </c:pt>
                  <c:pt idx="20">
                    <c:v>Sep</c:v>
                  </c:pt>
                  <c:pt idx="21">
                    <c:v>Oct</c:v>
                  </c:pt>
                  <c:pt idx="22">
                    <c:v>Nov</c:v>
                  </c:pt>
                  <c:pt idx="23">
                    <c:v>Dec</c:v>
                  </c:pt>
                  <c:pt idx="24">
                    <c:v>Jan</c:v>
                  </c:pt>
                  <c:pt idx="25">
                    <c:v>Feb</c:v>
                  </c:pt>
                  <c:pt idx="26">
                    <c:v>Mar</c:v>
                  </c:pt>
                  <c:pt idx="27">
                    <c:v>Apr</c:v>
                  </c:pt>
                  <c:pt idx="28">
                    <c:v>May</c:v>
                  </c:pt>
                  <c:pt idx="29">
                    <c:v>Jun</c:v>
                  </c:pt>
                  <c:pt idx="30">
                    <c:v>Jul</c:v>
                  </c:pt>
                  <c:pt idx="31">
                    <c:v>Aug</c:v>
                  </c:pt>
                  <c:pt idx="32">
                    <c:v>Sep</c:v>
                  </c:pt>
                  <c:pt idx="33">
                    <c:v>Oct</c:v>
                  </c:pt>
                  <c:pt idx="34">
                    <c:v>Nov</c:v>
                  </c:pt>
                  <c:pt idx="35">
                    <c:v>Dec</c:v>
                  </c:pt>
                  <c:pt idx="36">
                    <c:v>Jan</c:v>
                  </c:pt>
                  <c:pt idx="37">
                    <c:v>Feb</c:v>
                  </c:pt>
                  <c:pt idx="38">
                    <c:v>Mar</c:v>
                  </c:pt>
                  <c:pt idx="39">
                    <c:v>Apr</c:v>
                  </c:pt>
                  <c:pt idx="40">
                    <c:v>May</c:v>
                  </c:pt>
                  <c:pt idx="41">
                    <c:v>Jun</c:v>
                  </c:pt>
                  <c:pt idx="42">
                    <c:v>Jul</c:v>
                  </c:pt>
                  <c:pt idx="43">
                    <c:v>Aug</c:v>
                  </c:pt>
                  <c:pt idx="44">
                    <c:v>Sep</c:v>
                  </c:pt>
                  <c:pt idx="45">
                    <c:v>Oct</c:v>
                  </c:pt>
                  <c:pt idx="46">
                    <c:v>Nov</c:v>
                  </c:pt>
                  <c:pt idx="47">
                    <c:v>Dec</c:v>
                  </c:pt>
                  <c:pt idx="48">
                    <c:v>Jan</c:v>
                  </c:pt>
                  <c:pt idx="49">
                    <c:v>Feb</c:v>
                  </c:pt>
                  <c:pt idx="50">
                    <c:v>Mar</c:v>
                  </c:pt>
                  <c:pt idx="51">
                    <c:v>Apr</c:v>
                  </c:pt>
                  <c:pt idx="52">
                    <c:v>May</c:v>
                  </c:pt>
                  <c:pt idx="53">
                    <c:v>Jun</c:v>
                  </c:pt>
                  <c:pt idx="54">
                    <c:v>Jul</c:v>
                  </c:pt>
                  <c:pt idx="55">
                    <c:v>Aug</c:v>
                  </c:pt>
                  <c:pt idx="56">
                    <c:v>Sep</c:v>
                  </c:pt>
                  <c:pt idx="57">
                    <c:v>Oct</c:v>
                  </c:pt>
                  <c:pt idx="58">
                    <c:v>Nov</c:v>
                  </c:pt>
                  <c:pt idx="59">
                    <c:v>Dec</c:v>
                  </c:pt>
                </c:lvl>
                <c:lvl>
                  <c:pt idx="0">
                    <c:v>Qtr1</c:v>
                  </c:pt>
                  <c:pt idx="3">
                    <c:v>Qtr2</c:v>
                  </c:pt>
                  <c:pt idx="6">
                    <c:v>Qtr3</c:v>
                  </c:pt>
                  <c:pt idx="9">
                    <c:v>Qtr4</c:v>
                  </c:pt>
                  <c:pt idx="12">
                    <c:v>Qtr1</c:v>
                  </c:pt>
                  <c:pt idx="15">
                    <c:v>Qtr2</c:v>
                  </c:pt>
                  <c:pt idx="18">
                    <c:v>Qtr3</c:v>
                  </c:pt>
                  <c:pt idx="21">
                    <c:v>Qtr4</c:v>
                  </c:pt>
                  <c:pt idx="24">
                    <c:v>Qtr1</c:v>
                  </c:pt>
                  <c:pt idx="27">
                    <c:v>Qtr2</c:v>
                  </c:pt>
                  <c:pt idx="30">
                    <c:v>Qtr3</c:v>
                  </c:pt>
                  <c:pt idx="33">
                    <c:v>Qtr4</c:v>
                  </c:pt>
                  <c:pt idx="36">
                    <c:v>Qtr1</c:v>
                  </c:pt>
                  <c:pt idx="39">
                    <c:v>Qtr2</c:v>
                  </c:pt>
                  <c:pt idx="42">
                    <c:v>Qtr3</c:v>
                  </c:pt>
                  <c:pt idx="45">
                    <c:v>Qtr4</c:v>
                  </c:pt>
                  <c:pt idx="48">
                    <c:v>Qtr1</c:v>
                  </c:pt>
                  <c:pt idx="51">
                    <c:v>Qtr2</c:v>
                  </c:pt>
                  <c:pt idx="54">
                    <c:v>Qtr3</c:v>
                  </c:pt>
                  <c:pt idx="57">
                    <c:v>Qtr4</c:v>
                  </c:pt>
                </c:lvl>
                <c:lvl>
                  <c:pt idx="0">
                    <c:v>2016</c:v>
                  </c:pt>
                  <c:pt idx="12">
                    <c:v>2017</c:v>
                  </c:pt>
                  <c:pt idx="24">
                    <c:v>2018</c:v>
                  </c:pt>
                  <c:pt idx="36">
                    <c:v>2019</c:v>
                  </c:pt>
                  <c:pt idx="48">
                    <c:v>2020</c:v>
                  </c:pt>
                </c:lvl>
              </c:multiLvlStrCache>
            </c:multiLvlStrRef>
          </c:cat>
          <c:val>
            <c:numRef>
              <c:f>'Pivot Tables'!$L$2:$L$87</c:f>
              <c:numCache>
                <c:formatCode>General</c:formatCode>
                <c:ptCount val="60"/>
                <c:pt idx="0">
                  <c:v>4.565022421524664</c:v>
                </c:pt>
                <c:pt idx="1">
                  <c:v>4.5965909090909092</c:v>
                </c:pt>
                <c:pt idx="2">
                  <c:v>4.4823529411764707</c:v>
                </c:pt>
                <c:pt idx="3">
                  <c:v>4.5815939278937385</c:v>
                </c:pt>
                <c:pt idx="4">
                  <c:v>4.6836206896551724</c:v>
                </c:pt>
                <c:pt idx="5">
                  <c:v>4.59372026641294</c:v>
                </c:pt>
                <c:pt idx="6">
                  <c:v>4.6857402361489555</c:v>
                </c:pt>
                <c:pt idx="7">
                  <c:v>4.4486238532110089</c:v>
                </c:pt>
                <c:pt idx="8">
                  <c:v>4.4882186616399622</c:v>
                </c:pt>
                <c:pt idx="9">
                  <c:v>4.5110294117647056</c:v>
                </c:pt>
                <c:pt idx="10">
                  <c:v>4.5353728489483744</c:v>
                </c:pt>
                <c:pt idx="11">
                  <c:v>4.4448398576512451</c:v>
                </c:pt>
                <c:pt idx="12">
                  <c:v>4.7795555555555556</c:v>
                </c:pt>
                <c:pt idx="13">
                  <c:v>4.4995655951346656</c:v>
                </c:pt>
                <c:pt idx="14">
                  <c:v>4.4247856586126266</c:v>
                </c:pt>
                <c:pt idx="15">
                  <c:v>4.5068273092369475</c:v>
                </c:pt>
                <c:pt idx="16">
                  <c:v>4.4981412639405205</c:v>
                </c:pt>
                <c:pt idx="17">
                  <c:v>4.502411575562701</c:v>
                </c:pt>
                <c:pt idx="18">
                  <c:v>4.4014598540145986</c:v>
                </c:pt>
                <c:pt idx="19">
                  <c:v>4.725178713264496</c:v>
                </c:pt>
                <c:pt idx="20">
                  <c:v>4.4579591836734691</c:v>
                </c:pt>
                <c:pt idx="21">
                  <c:v>4.5195402298850578</c:v>
                </c:pt>
                <c:pt idx="22">
                  <c:v>4.6484312148028959</c:v>
                </c:pt>
                <c:pt idx="23">
                  <c:v>4.4216388225934766</c:v>
                </c:pt>
                <c:pt idx="24">
                  <c:v>4.4577191621411947</c:v>
                </c:pt>
                <c:pt idx="25">
                  <c:v>4.5494359654943599</c:v>
                </c:pt>
                <c:pt idx="26">
                  <c:v>4.6340136054421768</c:v>
                </c:pt>
                <c:pt idx="27">
                  <c:v>4.6410571604179474</c:v>
                </c:pt>
                <c:pt idx="28">
                  <c:v>4.6291591046581972</c:v>
                </c:pt>
                <c:pt idx="29">
                  <c:v>4.6823671497584538</c:v>
                </c:pt>
                <c:pt idx="30">
                  <c:v>4.5370370370370372</c:v>
                </c:pt>
                <c:pt idx="31">
                  <c:v>4.3702816057519476</c:v>
                </c:pt>
                <c:pt idx="32">
                  <c:v>4.5927960927960925</c:v>
                </c:pt>
                <c:pt idx="33">
                  <c:v>4.5024096385542167</c:v>
                </c:pt>
                <c:pt idx="34">
                  <c:v>4.4600246002460029</c:v>
                </c:pt>
                <c:pt idx="35">
                  <c:v>4.640025990903184</c:v>
                </c:pt>
                <c:pt idx="36">
                  <c:v>4.5624178712220766</c:v>
                </c:pt>
                <c:pt idx="37">
                  <c:v>4.6529209621993131</c:v>
                </c:pt>
                <c:pt idx="38">
                  <c:v>4.4544962080173347</c:v>
                </c:pt>
                <c:pt idx="39">
                  <c:v>4.5043804755944929</c:v>
                </c:pt>
                <c:pt idx="40">
                  <c:v>4.4186851211072664</c:v>
                </c:pt>
                <c:pt idx="41">
                  <c:v>4.5785714285714283</c:v>
                </c:pt>
                <c:pt idx="42">
                  <c:v>4.4859416445623346</c:v>
                </c:pt>
                <c:pt idx="43">
                  <c:v>4.5317585301837271</c:v>
                </c:pt>
                <c:pt idx="44">
                  <c:v>4.4698275862068968</c:v>
                </c:pt>
                <c:pt idx="45">
                  <c:v>4.6688000000000001</c:v>
                </c:pt>
                <c:pt idx="46">
                  <c:v>4.410158383397051</c:v>
                </c:pt>
                <c:pt idx="47">
                  <c:v>4.5160256410256414</c:v>
                </c:pt>
                <c:pt idx="48">
                  <c:v>4.5554541305340024</c:v>
                </c:pt>
                <c:pt idx="49">
                  <c:v>4.5977058582548134</c:v>
                </c:pt>
                <c:pt idx="50">
                  <c:v>4.687797147385103</c:v>
                </c:pt>
                <c:pt idx="51">
                  <c:v>4.5681723995026937</c:v>
                </c:pt>
                <c:pt idx="52">
                  <c:v>4.5966801256168681</c:v>
                </c:pt>
                <c:pt idx="53">
                  <c:v>4.6801687763713078</c:v>
                </c:pt>
                <c:pt idx="54">
                  <c:v>4.6450022411474672</c:v>
                </c:pt>
                <c:pt idx="55">
                  <c:v>4.4816835541699147</c:v>
                </c:pt>
                <c:pt idx="56">
                  <c:v>4.4940549405494057</c:v>
                </c:pt>
                <c:pt idx="57">
                  <c:v>4.5687573042462022</c:v>
                </c:pt>
                <c:pt idx="58">
                  <c:v>4.5207336523125994</c:v>
                </c:pt>
                <c:pt idx="59">
                  <c:v>4.640858566500575</c:v>
                </c:pt>
              </c:numCache>
            </c:numRef>
          </c:val>
          <c:smooth val="0"/>
          <c:extLst>
            <c:ext xmlns:c16="http://schemas.microsoft.com/office/drawing/2014/chart" uri="{C3380CC4-5D6E-409C-BE32-E72D297353CC}">
              <c16:uniqueId val="{00000000-11BA-424C-8B89-AFA35B8A789E}"/>
            </c:ext>
          </c:extLst>
        </c:ser>
        <c:ser>
          <c:idx val="1"/>
          <c:order val="1"/>
          <c:tx>
            <c:strRef>
              <c:f>'Pivot Tables'!$M$1</c:f>
              <c:strCache>
                <c:ptCount val="1"/>
                <c:pt idx="0">
                  <c:v>Average of Satisfaction Rate</c:v>
                </c:pt>
              </c:strCache>
            </c:strRef>
          </c:tx>
          <c:spPr>
            <a:ln w="28575" cap="rnd">
              <a:solidFill>
                <a:schemeClr val="accent2"/>
              </a:solidFill>
              <a:round/>
            </a:ln>
            <a:effectLst/>
          </c:spPr>
          <c:marker>
            <c:symbol val="none"/>
          </c:marker>
          <c:cat>
            <c:multiLvlStrRef>
              <c:f>'Pivot Tables'!$K$2:$K$87</c:f>
              <c:multiLvlStrCache>
                <c:ptCount val="60"/>
                <c:lvl>
                  <c:pt idx="0">
                    <c:v>Jan</c:v>
                  </c:pt>
                  <c:pt idx="1">
                    <c:v>Feb</c:v>
                  </c:pt>
                  <c:pt idx="2">
                    <c:v>Mar</c:v>
                  </c:pt>
                  <c:pt idx="3">
                    <c:v>Apr</c:v>
                  </c:pt>
                  <c:pt idx="4">
                    <c:v>May</c:v>
                  </c:pt>
                  <c:pt idx="5">
                    <c:v>Jun</c:v>
                  </c:pt>
                  <c:pt idx="6">
                    <c:v>Jul</c:v>
                  </c:pt>
                  <c:pt idx="7">
                    <c:v>Aug</c:v>
                  </c:pt>
                  <c:pt idx="8">
                    <c:v>Sep</c:v>
                  </c:pt>
                  <c:pt idx="9">
                    <c:v>Oct</c:v>
                  </c:pt>
                  <c:pt idx="10">
                    <c:v>Nov</c:v>
                  </c:pt>
                  <c:pt idx="11">
                    <c:v>Dec</c:v>
                  </c:pt>
                  <c:pt idx="12">
                    <c:v>Jan</c:v>
                  </c:pt>
                  <c:pt idx="13">
                    <c:v>Feb</c:v>
                  </c:pt>
                  <c:pt idx="14">
                    <c:v>Mar</c:v>
                  </c:pt>
                  <c:pt idx="15">
                    <c:v>Apr</c:v>
                  </c:pt>
                  <c:pt idx="16">
                    <c:v>May</c:v>
                  </c:pt>
                  <c:pt idx="17">
                    <c:v>Jun</c:v>
                  </c:pt>
                  <c:pt idx="18">
                    <c:v>Jul</c:v>
                  </c:pt>
                  <c:pt idx="19">
                    <c:v>Aug</c:v>
                  </c:pt>
                  <c:pt idx="20">
                    <c:v>Sep</c:v>
                  </c:pt>
                  <c:pt idx="21">
                    <c:v>Oct</c:v>
                  </c:pt>
                  <c:pt idx="22">
                    <c:v>Nov</c:v>
                  </c:pt>
                  <c:pt idx="23">
                    <c:v>Dec</c:v>
                  </c:pt>
                  <c:pt idx="24">
                    <c:v>Jan</c:v>
                  </c:pt>
                  <c:pt idx="25">
                    <c:v>Feb</c:v>
                  </c:pt>
                  <c:pt idx="26">
                    <c:v>Mar</c:v>
                  </c:pt>
                  <c:pt idx="27">
                    <c:v>Apr</c:v>
                  </c:pt>
                  <c:pt idx="28">
                    <c:v>May</c:v>
                  </c:pt>
                  <c:pt idx="29">
                    <c:v>Jun</c:v>
                  </c:pt>
                  <c:pt idx="30">
                    <c:v>Jul</c:v>
                  </c:pt>
                  <c:pt idx="31">
                    <c:v>Aug</c:v>
                  </c:pt>
                  <c:pt idx="32">
                    <c:v>Sep</c:v>
                  </c:pt>
                  <c:pt idx="33">
                    <c:v>Oct</c:v>
                  </c:pt>
                  <c:pt idx="34">
                    <c:v>Nov</c:v>
                  </c:pt>
                  <c:pt idx="35">
                    <c:v>Dec</c:v>
                  </c:pt>
                  <c:pt idx="36">
                    <c:v>Jan</c:v>
                  </c:pt>
                  <c:pt idx="37">
                    <c:v>Feb</c:v>
                  </c:pt>
                  <c:pt idx="38">
                    <c:v>Mar</c:v>
                  </c:pt>
                  <c:pt idx="39">
                    <c:v>Apr</c:v>
                  </c:pt>
                  <c:pt idx="40">
                    <c:v>May</c:v>
                  </c:pt>
                  <c:pt idx="41">
                    <c:v>Jun</c:v>
                  </c:pt>
                  <c:pt idx="42">
                    <c:v>Jul</c:v>
                  </c:pt>
                  <c:pt idx="43">
                    <c:v>Aug</c:v>
                  </c:pt>
                  <c:pt idx="44">
                    <c:v>Sep</c:v>
                  </c:pt>
                  <c:pt idx="45">
                    <c:v>Oct</c:v>
                  </c:pt>
                  <c:pt idx="46">
                    <c:v>Nov</c:v>
                  </c:pt>
                  <c:pt idx="47">
                    <c:v>Dec</c:v>
                  </c:pt>
                  <c:pt idx="48">
                    <c:v>Jan</c:v>
                  </c:pt>
                  <c:pt idx="49">
                    <c:v>Feb</c:v>
                  </c:pt>
                  <c:pt idx="50">
                    <c:v>Mar</c:v>
                  </c:pt>
                  <c:pt idx="51">
                    <c:v>Apr</c:v>
                  </c:pt>
                  <c:pt idx="52">
                    <c:v>May</c:v>
                  </c:pt>
                  <c:pt idx="53">
                    <c:v>Jun</c:v>
                  </c:pt>
                  <c:pt idx="54">
                    <c:v>Jul</c:v>
                  </c:pt>
                  <c:pt idx="55">
                    <c:v>Aug</c:v>
                  </c:pt>
                  <c:pt idx="56">
                    <c:v>Sep</c:v>
                  </c:pt>
                  <c:pt idx="57">
                    <c:v>Oct</c:v>
                  </c:pt>
                  <c:pt idx="58">
                    <c:v>Nov</c:v>
                  </c:pt>
                  <c:pt idx="59">
                    <c:v>Dec</c:v>
                  </c:pt>
                </c:lvl>
                <c:lvl>
                  <c:pt idx="0">
                    <c:v>Qtr1</c:v>
                  </c:pt>
                  <c:pt idx="3">
                    <c:v>Qtr2</c:v>
                  </c:pt>
                  <c:pt idx="6">
                    <c:v>Qtr3</c:v>
                  </c:pt>
                  <c:pt idx="9">
                    <c:v>Qtr4</c:v>
                  </c:pt>
                  <c:pt idx="12">
                    <c:v>Qtr1</c:v>
                  </c:pt>
                  <c:pt idx="15">
                    <c:v>Qtr2</c:v>
                  </c:pt>
                  <c:pt idx="18">
                    <c:v>Qtr3</c:v>
                  </c:pt>
                  <c:pt idx="21">
                    <c:v>Qtr4</c:v>
                  </c:pt>
                  <c:pt idx="24">
                    <c:v>Qtr1</c:v>
                  </c:pt>
                  <c:pt idx="27">
                    <c:v>Qtr2</c:v>
                  </c:pt>
                  <c:pt idx="30">
                    <c:v>Qtr3</c:v>
                  </c:pt>
                  <c:pt idx="33">
                    <c:v>Qtr4</c:v>
                  </c:pt>
                  <c:pt idx="36">
                    <c:v>Qtr1</c:v>
                  </c:pt>
                  <c:pt idx="39">
                    <c:v>Qtr2</c:v>
                  </c:pt>
                  <c:pt idx="42">
                    <c:v>Qtr3</c:v>
                  </c:pt>
                  <c:pt idx="45">
                    <c:v>Qtr4</c:v>
                  </c:pt>
                  <c:pt idx="48">
                    <c:v>Qtr1</c:v>
                  </c:pt>
                  <c:pt idx="51">
                    <c:v>Qtr2</c:v>
                  </c:pt>
                  <c:pt idx="54">
                    <c:v>Qtr3</c:v>
                  </c:pt>
                  <c:pt idx="57">
                    <c:v>Qtr4</c:v>
                  </c:pt>
                </c:lvl>
                <c:lvl>
                  <c:pt idx="0">
                    <c:v>2016</c:v>
                  </c:pt>
                  <c:pt idx="12">
                    <c:v>2017</c:v>
                  </c:pt>
                  <c:pt idx="24">
                    <c:v>2018</c:v>
                  </c:pt>
                  <c:pt idx="36">
                    <c:v>2019</c:v>
                  </c:pt>
                  <c:pt idx="48">
                    <c:v>2020</c:v>
                  </c:pt>
                </c:lvl>
              </c:multiLvlStrCache>
            </c:multiLvlStrRef>
          </c:cat>
          <c:val>
            <c:numRef>
              <c:f>'Pivot Tables'!$M$2:$M$87</c:f>
              <c:numCache>
                <c:formatCode>General</c:formatCode>
                <c:ptCount val="60"/>
                <c:pt idx="0">
                  <c:v>3.9605381165919282</c:v>
                </c:pt>
                <c:pt idx="1">
                  <c:v>3.9346590909090908</c:v>
                </c:pt>
                <c:pt idx="2">
                  <c:v>3.949321266968326</c:v>
                </c:pt>
                <c:pt idx="3">
                  <c:v>4.0123339658444026</c:v>
                </c:pt>
                <c:pt idx="4">
                  <c:v>3.9336206896551724</c:v>
                </c:pt>
                <c:pt idx="5">
                  <c:v>3.955280685061846</c:v>
                </c:pt>
                <c:pt idx="6">
                  <c:v>3.9509536784741144</c:v>
                </c:pt>
                <c:pt idx="7">
                  <c:v>3.9990825688073395</c:v>
                </c:pt>
                <c:pt idx="8">
                  <c:v>4.0047125353440149</c:v>
                </c:pt>
                <c:pt idx="9">
                  <c:v>3.9595588235294117</c:v>
                </c:pt>
                <c:pt idx="10">
                  <c:v>4.0430210325047797</c:v>
                </c:pt>
                <c:pt idx="11">
                  <c:v>4.0569395017793592</c:v>
                </c:pt>
                <c:pt idx="12">
                  <c:v>4.1431111111111107</c:v>
                </c:pt>
                <c:pt idx="13">
                  <c:v>4.0208514335360555</c:v>
                </c:pt>
                <c:pt idx="14">
                  <c:v>4.0366328916601715</c:v>
                </c:pt>
                <c:pt idx="15">
                  <c:v>4.0530120481927714</c:v>
                </c:pt>
                <c:pt idx="16">
                  <c:v>4.0289962825278813</c:v>
                </c:pt>
                <c:pt idx="17">
                  <c:v>4.102090032154341</c:v>
                </c:pt>
                <c:pt idx="18">
                  <c:v>4.0819140308191404</c:v>
                </c:pt>
                <c:pt idx="19">
                  <c:v>4.0516282764098488</c:v>
                </c:pt>
                <c:pt idx="20">
                  <c:v>4.0653061224489795</c:v>
                </c:pt>
                <c:pt idx="21">
                  <c:v>4.0980842911877398</c:v>
                </c:pt>
                <c:pt idx="22">
                  <c:v>4.0667739340305715</c:v>
                </c:pt>
                <c:pt idx="23">
                  <c:v>4.0755767700875101</c:v>
                </c:pt>
                <c:pt idx="24">
                  <c:v>4.2265321955003881</c:v>
                </c:pt>
                <c:pt idx="25">
                  <c:v>4.0570670205706705</c:v>
                </c:pt>
                <c:pt idx="26">
                  <c:v>4.1149659863945578</c:v>
                </c:pt>
                <c:pt idx="27">
                  <c:v>4.1001843884449904</c:v>
                </c:pt>
                <c:pt idx="28">
                  <c:v>4.0568663036902599</c:v>
                </c:pt>
                <c:pt idx="29">
                  <c:v>4.0609903381642516</c:v>
                </c:pt>
                <c:pt idx="30">
                  <c:v>4.0790123456790122</c:v>
                </c:pt>
                <c:pt idx="31">
                  <c:v>4.0892750149790293</c:v>
                </c:pt>
                <c:pt idx="32">
                  <c:v>4.0946275946275943</c:v>
                </c:pt>
                <c:pt idx="33">
                  <c:v>4.0560240963855421</c:v>
                </c:pt>
                <c:pt idx="34">
                  <c:v>4.1033210332103325</c:v>
                </c:pt>
                <c:pt idx="35">
                  <c:v>4.0929174788823914</c:v>
                </c:pt>
                <c:pt idx="36">
                  <c:v>4.2056504599211566</c:v>
                </c:pt>
                <c:pt idx="37">
                  <c:v>4.0784650630011452</c:v>
                </c:pt>
                <c:pt idx="38">
                  <c:v>4.1213434452871072</c:v>
                </c:pt>
                <c:pt idx="39">
                  <c:v>4.1770963704630786</c:v>
                </c:pt>
                <c:pt idx="40">
                  <c:v>4.1695501730103803</c:v>
                </c:pt>
                <c:pt idx="41">
                  <c:v>4.0840659340659338</c:v>
                </c:pt>
                <c:pt idx="42">
                  <c:v>4.1161803713527849</c:v>
                </c:pt>
                <c:pt idx="43">
                  <c:v>4.1396325459317582</c:v>
                </c:pt>
                <c:pt idx="44">
                  <c:v>4.1239224137931032</c:v>
                </c:pt>
                <c:pt idx="45">
                  <c:v>4.1024000000000003</c:v>
                </c:pt>
                <c:pt idx="46">
                  <c:v>4.0988530857454943</c:v>
                </c:pt>
                <c:pt idx="47">
                  <c:v>4.0737179487179489</c:v>
                </c:pt>
                <c:pt idx="48">
                  <c:v>4.1716111364673667</c:v>
                </c:pt>
                <c:pt idx="49">
                  <c:v>4.1593609176566977</c:v>
                </c:pt>
                <c:pt idx="50">
                  <c:v>4.0879556259904914</c:v>
                </c:pt>
                <c:pt idx="51">
                  <c:v>4.1566514711976792</c:v>
                </c:pt>
                <c:pt idx="52">
                  <c:v>4.2462987886944816</c:v>
                </c:pt>
                <c:pt idx="53">
                  <c:v>4.176793248945148</c:v>
                </c:pt>
                <c:pt idx="54">
                  <c:v>4.2720753025549083</c:v>
                </c:pt>
                <c:pt idx="55">
                  <c:v>4.1395167575993765</c:v>
                </c:pt>
                <c:pt idx="56">
                  <c:v>4.1521115211152111</c:v>
                </c:pt>
                <c:pt idx="57">
                  <c:v>4.1254382547721073</c:v>
                </c:pt>
                <c:pt idx="58">
                  <c:v>4.1172248803827749</c:v>
                </c:pt>
                <c:pt idx="59">
                  <c:v>4.1556151782292066</c:v>
                </c:pt>
              </c:numCache>
            </c:numRef>
          </c:val>
          <c:smooth val="0"/>
          <c:extLst>
            <c:ext xmlns:c16="http://schemas.microsoft.com/office/drawing/2014/chart" uri="{C3380CC4-5D6E-409C-BE32-E72D297353CC}">
              <c16:uniqueId val="{00000001-11BA-424C-8B89-AFA35B8A789E}"/>
            </c:ext>
          </c:extLst>
        </c:ser>
        <c:dLbls>
          <c:showLegendKey val="0"/>
          <c:showVal val="0"/>
          <c:showCatName val="0"/>
          <c:showSerName val="0"/>
          <c:showPercent val="0"/>
          <c:showBubbleSize val="0"/>
        </c:dLbls>
        <c:marker val="1"/>
        <c:smooth val="0"/>
        <c:axId val="1660037168"/>
        <c:axId val="1660037648"/>
      </c:lineChart>
      <c:lineChart>
        <c:grouping val="standard"/>
        <c:varyColors val="0"/>
        <c:ser>
          <c:idx val="2"/>
          <c:order val="2"/>
          <c:tx>
            <c:strRef>
              <c:f>'Pivot Tables'!$N$1</c:f>
              <c:strCache>
                <c:ptCount val="1"/>
                <c:pt idx="0">
                  <c:v>Count of ID Ticket</c:v>
                </c:pt>
              </c:strCache>
            </c:strRef>
          </c:tx>
          <c:spPr>
            <a:ln w="28575" cap="rnd">
              <a:solidFill>
                <a:schemeClr val="accent3"/>
              </a:solidFill>
              <a:round/>
            </a:ln>
            <a:effectLst/>
          </c:spPr>
          <c:marker>
            <c:symbol val="none"/>
          </c:marker>
          <c:cat>
            <c:multiLvlStrRef>
              <c:f>'Pivot Tables'!$K$2:$K$87</c:f>
              <c:multiLvlStrCache>
                <c:ptCount val="60"/>
                <c:lvl>
                  <c:pt idx="0">
                    <c:v>Jan</c:v>
                  </c:pt>
                  <c:pt idx="1">
                    <c:v>Feb</c:v>
                  </c:pt>
                  <c:pt idx="2">
                    <c:v>Mar</c:v>
                  </c:pt>
                  <c:pt idx="3">
                    <c:v>Apr</c:v>
                  </c:pt>
                  <c:pt idx="4">
                    <c:v>May</c:v>
                  </c:pt>
                  <c:pt idx="5">
                    <c:v>Jun</c:v>
                  </c:pt>
                  <c:pt idx="6">
                    <c:v>Jul</c:v>
                  </c:pt>
                  <c:pt idx="7">
                    <c:v>Aug</c:v>
                  </c:pt>
                  <c:pt idx="8">
                    <c:v>Sep</c:v>
                  </c:pt>
                  <c:pt idx="9">
                    <c:v>Oct</c:v>
                  </c:pt>
                  <c:pt idx="10">
                    <c:v>Nov</c:v>
                  </c:pt>
                  <c:pt idx="11">
                    <c:v>Dec</c:v>
                  </c:pt>
                  <c:pt idx="12">
                    <c:v>Jan</c:v>
                  </c:pt>
                  <c:pt idx="13">
                    <c:v>Feb</c:v>
                  </c:pt>
                  <c:pt idx="14">
                    <c:v>Mar</c:v>
                  </c:pt>
                  <c:pt idx="15">
                    <c:v>Apr</c:v>
                  </c:pt>
                  <c:pt idx="16">
                    <c:v>May</c:v>
                  </c:pt>
                  <c:pt idx="17">
                    <c:v>Jun</c:v>
                  </c:pt>
                  <c:pt idx="18">
                    <c:v>Jul</c:v>
                  </c:pt>
                  <c:pt idx="19">
                    <c:v>Aug</c:v>
                  </c:pt>
                  <c:pt idx="20">
                    <c:v>Sep</c:v>
                  </c:pt>
                  <c:pt idx="21">
                    <c:v>Oct</c:v>
                  </c:pt>
                  <c:pt idx="22">
                    <c:v>Nov</c:v>
                  </c:pt>
                  <c:pt idx="23">
                    <c:v>Dec</c:v>
                  </c:pt>
                  <c:pt idx="24">
                    <c:v>Jan</c:v>
                  </c:pt>
                  <c:pt idx="25">
                    <c:v>Feb</c:v>
                  </c:pt>
                  <c:pt idx="26">
                    <c:v>Mar</c:v>
                  </c:pt>
                  <c:pt idx="27">
                    <c:v>Apr</c:v>
                  </c:pt>
                  <c:pt idx="28">
                    <c:v>May</c:v>
                  </c:pt>
                  <c:pt idx="29">
                    <c:v>Jun</c:v>
                  </c:pt>
                  <c:pt idx="30">
                    <c:v>Jul</c:v>
                  </c:pt>
                  <c:pt idx="31">
                    <c:v>Aug</c:v>
                  </c:pt>
                  <c:pt idx="32">
                    <c:v>Sep</c:v>
                  </c:pt>
                  <c:pt idx="33">
                    <c:v>Oct</c:v>
                  </c:pt>
                  <c:pt idx="34">
                    <c:v>Nov</c:v>
                  </c:pt>
                  <c:pt idx="35">
                    <c:v>Dec</c:v>
                  </c:pt>
                  <c:pt idx="36">
                    <c:v>Jan</c:v>
                  </c:pt>
                  <c:pt idx="37">
                    <c:v>Feb</c:v>
                  </c:pt>
                  <c:pt idx="38">
                    <c:v>Mar</c:v>
                  </c:pt>
                  <c:pt idx="39">
                    <c:v>Apr</c:v>
                  </c:pt>
                  <c:pt idx="40">
                    <c:v>May</c:v>
                  </c:pt>
                  <c:pt idx="41">
                    <c:v>Jun</c:v>
                  </c:pt>
                  <c:pt idx="42">
                    <c:v>Jul</c:v>
                  </c:pt>
                  <c:pt idx="43">
                    <c:v>Aug</c:v>
                  </c:pt>
                  <c:pt idx="44">
                    <c:v>Sep</c:v>
                  </c:pt>
                  <c:pt idx="45">
                    <c:v>Oct</c:v>
                  </c:pt>
                  <c:pt idx="46">
                    <c:v>Nov</c:v>
                  </c:pt>
                  <c:pt idx="47">
                    <c:v>Dec</c:v>
                  </c:pt>
                  <c:pt idx="48">
                    <c:v>Jan</c:v>
                  </c:pt>
                  <c:pt idx="49">
                    <c:v>Feb</c:v>
                  </c:pt>
                  <c:pt idx="50">
                    <c:v>Mar</c:v>
                  </c:pt>
                  <c:pt idx="51">
                    <c:v>Apr</c:v>
                  </c:pt>
                  <c:pt idx="52">
                    <c:v>May</c:v>
                  </c:pt>
                  <c:pt idx="53">
                    <c:v>Jun</c:v>
                  </c:pt>
                  <c:pt idx="54">
                    <c:v>Jul</c:v>
                  </c:pt>
                  <c:pt idx="55">
                    <c:v>Aug</c:v>
                  </c:pt>
                  <c:pt idx="56">
                    <c:v>Sep</c:v>
                  </c:pt>
                  <c:pt idx="57">
                    <c:v>Oct</c:v>
                  </c:pt>
                  <c:pt idx="58">
                    <c:v>Nov</c:v>
                  </c:pt>
                  <c:pt idx="59">
                    <c:v>Dec</c:v>
                  </c:pt>
                </c:lvl>
                <c:lvl>
                  <c:pt idx="0">
                    <c:v>Qtr1</c:v>
                  </c:pt>
                  <c:pt idx="3">
                    <c:v>Qtr2</c:v>
                  </c:pt>
                  <c:pt idx="6">
                    <c:v>Qtr3</c:v>
                  </c:pt>
                  <c:pt idx="9">
                    <c:v>Qtr4</c:v>
                  </c:pt>
                  <c:pt idx="12">
                    <c:v>Qtr1</c:v>
                  </c:pt>
                  <c:pt idx="15">
                    <c:v>Qtr2</c:v>
                  </c:pt>
                  <c:pt idx="18">
                    <c:v>Qtr3</c:v>
                  </c:pt>
                  <c:pt idx="21">
                    <c:v>Qtr4</c:v>
                  </c:pt>
                  <c:pt idx="24">
                    <c:v>Qtr1</c:v>
                  </c:pt>
                  <c:pt idx="27">
                    <c:v>Qtr2</c:v>
                  </c:pt>
                  <c:pt idx="30">
                    <c:v>Qtr3</c:v>
                  </c:pt>
                  <c:pt idx="33">
                    <c:v>Qtr4</c:v>
                  </c:pt>
                  <c:pt idx="36">
                    <c:v>Qtr1</c:v>
                  </c:pt>
                  <c:pt idx="39">
                    <c:v>Qtr2</c:v>
                  </c:pt>
                  <c:pt idx="42">
                    <c:v>Qtr3</c:v>
                  </c:pt>
                  <c:pt idx="45">
                    <c:v>Qtr4</c:v>
                  </c:pt>
                  <c:pt idx="48">
                    <c:v>Qtr1</c:v>
                  </c:pt>
                  <c:pt idx="51">
                    <c:v>Qtr2</c:v>
                  </c:pt>
                  <c:pt idx="54">
                    <c:v>Qtr3</c:v>
                  </c:pt>
                  <c:pt idx="57">
                    <c:v>Qtr4</c:v>
                  </c:pt>
                </c:lvl>
                <c:lvl>
                  <c:pt idx="0">
                    <c:v>2016</c:v>
                  </c:pt>
                  <c:pt idx="12">
                    <c:v>2017</c:v>
                  </c:pt>
                  <c:pt idx="24">
                    <c:v>2018</c:v>
                  </c:pt>
                  <c:pt idx="36">
                    <c:v>2019</c:v>
                  </c:pt>
                  <c:pt idx="48">
                    <c:v>2020</c:v>
                  </c:pt>
                </c:lvl>
              </c:multiLvlStrCache>
            </c:multiLvlStrRef>
          </c:cat>
          <c:val>
            <c:numRef>
              <c:f>'Pivot Tables'!$N$2:$N$87</c:f>
              <c:numCache>
                <c:formatCode>General</c:formatCode>
                <c:ptCount val="60"/>
                <c:pt idx="0">
                  <c:v>1115</c:v>
                </c:pt>
                <c:pt idx="1">
                  <c:v>1056</c:v>
                </c:pt>
                <c:pt idx="2">
                  <c:v>1105</c:v>
                </c:pt>
                <c:pt idx="3">
                  <c:v>1054</c:v>
                </c:pt>
                <c:pt idx="4">
                  <c:v>1160</c:v>
                </c:pt>
                <c:pt idx="5">
                  <c:v>1051</c:v>
                </c:pt>
                <c:pt idx="6">
                  <c:v>1101</c:v>
                </c:pt>
                <c:pt idx="7">
                  <c:v>1090</c:v>
                </c:pt>
                <c:pt idx="8">
                  <c:v>1061</c:v>
                </c:pt>
                <c:pt idx="9">
                  <c:v>1088</c:v>
                </c:pt>
                <c:pt idx="10">
                  <c:v>1046</c:v>
                </c:pt>
                <c:pt idx="11">
                  <c:v>1124</c:v>
                </c:pt>
                <c:pt idx="12">
                  <c:v>1125</c:v>
                </c:pt>
                <c:pt idx="13">
                  <c:v>1151</c:v>
                </c:pt>
                <c:pt idx="14">
                  <c:v>1283</c:v>
                </c:pt>
                <c:pt idx="15">
                  <c:v>1245</c:v>
                </c:pt>
                <c:pt idx="16">
                  <c:v>1345</c:v>
                </c:pt>
                <c:pt idx="17">
                  <c:v>1244</c:v>
                </c:pt>
                <c:pt idx="18">
                  <c:v>1233</c:v>
                </c:pt>
                <c:pt idx="19">
                  <c:v>1259</c:v>
                </c:pt>
                <c:pt idx="20">
                  <c:v>1225</c:v>
                </c:pt>
                <c:pt idx="21">
                  <c:v>1305</c:v>
                </c:pt>
                <c:pt idx="22">
                  <c:v>1243</c:v>
                </c:pt>
                <c:pt idx="23">
                  <c:v>1257</c:v>
                </c:pt>
                <c:pt idx="24">
                  <c:v>1289</c:v>
                </c:pt>
                <c:pt idx="25">
                  <c:v>1507</c:v>
                </c:pt>
                <c:pt idx="26">
                  <c:v>1470</c:v>
                </c:pt>
                <c:pt idx="27">
                  <c:v>1627</c:v>
                </c:pt>
                <c:pt idx="28">
                  <c:v>1653</c:v>
                </c:pt>
                <c:pt idx="29">
                  <c:v>1656</c:v>
                </c:pt>
                <c:pt idx="30">
                  <c:v>1620</c:v>
                </c:pt>
                <c:pt idx="31">
                  <c:v>1669</c:v>
                </c:pt>
                <c:pt idx="32">
                  <c:v>1638</c:v>
                </c:pt>
                <c:pt idx="33">
                  <c:v>1660</c:v>
                </c:pt>
                <c:pt idx="34">
                  <c:v>1626</c:v>
                </c:pt>
                <c:pt idx="35">
                  <c:v>1539</c:v>
                </c:pt>
                <c:pt idx="36">
                  <c:v>1522</c:v>
                </c:pt>
                <c:pt idx="37">
                  <c:v>1746</c:v>
                </c:pt>
                <c:pt idx="38">
                  <c:v>1846</c:v>
                </c:pt>
                <c:pt idx="39">
                  <c:v>1598</c:v>
                </c:pt>
                <c:pt idx="40">
                  <c:v>1734</c:v>
                </c:pt>
                <c:pt idx="41">
                  <c:v>1820</c:v>
                </c:pt>
                <c:pt idx="42">
                  <c:v>1885</c:v>
                </c:pt>
                <c:pt idx="43">
                  <c:v>1905</c:v>
                </c:pt>
                <c:pt idx="44">
                  <c:v>1856</c:v>
                </c:pt>
                <c:pt idx="45">
                  <c:v>1875</c:v>
                </c:pt>
                <c:pt idx="46">
                  <c:v>1831</c:v>
                </c:pt>
                <c:pt idx="47">
                  <c:v>1872</c:v>
                </c:pt>
                <c:pt idx="48">
                  <c:v>2191</c:v>
                </c:pt>
                <c:pt idx="49">
                  <c:v>2441</c:v>
                </c:pt>
                <c:pt idx="50">
                  <c:v>2524</c:v>
                </c:pt>
                <c:pt idx="51">
                  <c:v>2413</c:v>
                </c:pt>
                <c:pt idx="52">
                  <c:v>2229</c:v>
                </c:pt>
                <c:pt idx="53">
                  <c:v>2370</c:v>
                </c:pt>
                <c:pt idx="54">
                  <c:v>2231</c:v>
                </c:pt>
                <c:pt idx="55">
                  <c:v>2566</c:v>
                </c:pt>
                <c:pt idx="56">
                  <c:v>2439</c:v>
                </c:pt>
                <c:pt idx="57">
                  <c:v>2567</c:v>
                </c:pt>
                <c:pt idx="58">
                  <c:v>2508</c:v>
                </c:pt>
                <c:pt idx="59">
                  <c:v>2609</c:v>
                </c:pt>
              </c:numCache>
            </c:numRef>
          </c:val>
          <c:smooth val="0"/>
          <c:extLst>
            <c:ext xmlns:c16="http://schemas.microsoft.com/office/drawing/2014/chart" uri="{C3380CC4-5D6E-409C-BE32-E72D297353CC}">
              <c16:uniqueId val="{00000002-11BA-424C-8B89-AFA35B8A789E}"/>
            </c:ext>
          </c:extLst>
        </c:ser>
        <c:dLbls>
          <c:showLegendKey val="0"/>
          <c:showVal val="0"/>
          <c:showCatName val="0"/>
          <c:showSerName val="0"/>
          <c:showPercent val="0"/>
          <c:showBubbleSize val="0"/>
        </c:dLbls>
        <c:marker val="1"/>
        <c:smooth val="0"/>
        <c:axId val="1792417952"/>
        <c:axId val="1660036688"/>
      </c:lineChart>
      <c:catAx>
        <c:axId val="16600371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60037648"/>
        <c:crosses val="autoZero"/>
        <c:auto val="1"/>
        <c:lblAlgn val="ctr"/>
        <c:lblOffset val="100"/>
        <c:noMultiLvlLbl val="0"/>
      </c:catAx>
      <c:valAx>
        <c:axId val="16600376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60037168"/>
        <c:crosses val="autoZero"/>
        <c:crossBetween val="between"/>
      </c:valAx>
      <c:valAx>
        <c:axId val="1660036688"/>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92417952"/>
        <c:crosses val="max"/>
        <c:crossBetween val="between"/>
      </c:valAx>
      <c:catAx>
        <c:axId val="1792417952"/>
        <c:scaling>
          <c:orientation val="minMax"/>
        </c:scaling>
        <c:delete val="1"/>
        <c:axPos val="b"/>
        <c:numFmt formatCode="General" sourceLinked="1"/>
        <c:majorTickMark val="out"/>
        <c:minorTickMark val="none"/>
        <c:tickLblPos val="nextTo"/>
        <c:crossAx val="1660036688"/>
        <c:crosses val="autoZero"/>
        <c:auto val="1"/>
        <c:lblAlgn val="ctr"/>
        <c:lblOffset val="100"/>
        <c:noMultiLvlLbl val="0"/>
      </c:cat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 Tickets Analysis (1).xlsx]Pivot Tables!PivotTable12</c:name>
    <c:fmtId val="2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Satisfaction</a:t>
            </a:r>
            <a:r>
              <a:rPr lang="en-IN" baseline="0"/>
              <a:t> Rate and Resolution Time Trends through Years</a:t>
            </a:r>
            <a:endParaRPr lang="en-IN"/>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N"/>
        </a:p>
      </c:txPr>
    </c:title>
    <c:autoTitleDeleted val="0"/>
    <c:pivotFmts>
      <c:pivotFmt>
        <c:idx val="0"/>
        <c:spPr>
          <a:solidFill>
            <a:schemeClr val="accent1"/>
          </a:solidFill>
          <a:ln w="28575" cap="rnd">
            <a:solidFill>
              <a:schemeClr val="accent1"/>
            </a:solidFill>
            <a:round/>
          </a:ln>
          <a:effectLst/>
        </c:spPr>
        <c:marker>
          <c:symbol val="none"/>
        </c:marker>
      </c:pivotFmt>
      <c:pivotFmt>
        <c:idx val="1"/>
        <c:spPr>
          <a:solidFill>
            <a:schemeClr val="accent1"/>
          </a:solidFill>
          <a:ln w="28575" cap="rnd">
            <a:solidFill>
              <a:schemeClr val="accent1"/>
            </a:solidFill>
            <a:round/>
          </a:ln>
          <a:effectLst/>
        </c:spPr>
        <c:marker>
          <c:symbol val="none"/>
        </c:marker>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7.3988689558135118E-2"/>
          <c:y val="0.13323846850982191"/>
          <c:w val="0.86599595475823254"/>
          <c:h val="0.47685695538057743"/>
        </c:manualLayout>
      </c:layout>
      <c:lineChart>
        <c:grouping val="standard"/>
        <c:varyColors val="0"/>
        <c:ser>
          <c:idx val="0"/>
          <c:order val="0"/>
          <c:tx>
            <c:strRef>
              <c:f>'Pivot Tables'!$AC$3</c:f>
              <c:strCache>
                <c:ptCount val="1"/>
                <c:pt idx="0">
                  <c:v>Average of Resolution Time (Days)</c:v>
                </c:pt>
              </c:strCache>
            </c:strRef>
          </c:tx>
          <c:spPr>
            <a:ln w="28575" cap="rnd">
              <a:solidFill>
                <a:schemeClr val="accent1"/>
              </a:solidFill>
              <a:round/>
            </a:ln>
            <a:effectLst/>
          </c:spPr>
          <c:marker>
            <c:symbol val="none"/>
          </c:marker>
          <c:cat>
            <c:multiLvlStrRef>
              <c:f>'Pivot Tables'!$AB$4:$AB$89</c:f>
              <c:multiLvlStrCache>
                <c:ptCount val="60"/>
                <c:lvl>
                  <c:pt idx="0">
                    <c:v>Jan</c:v>
                  </c:pt>
                  <c:pt idx="1">
                    <c:v>Feb</c:v>
                  </c:pt>
                  <c:pt idx="2">
                    <c:v>Mar</c:v>
                  </c:pt>
                  <c:pt idx="3">
                    <c:v>Apr</c:v>
                  </c:pt>
                  <c:pt idx="4">
                    <c:v>May</c:v>
                  </c:pt>
                  <c:pt idx="5">
                    <c:v>Jun</c:v>
                  </c:pt>
                  <c:pt idx="6">
                    <c:v>Jul</c:v>
                  </c:pt>
                  <c:pt idx="7">
                    <c:v>Aug</c:v>
                  </c:pt>
                  <c:pt idx="8">
                    <c:v>Sep</c:v>
                  </c:pt>
                  <c:pt idx="9">
                    <c:v>Oct</c:v>
                  </c:pt>
                  <c:pt idx="10">
                    <c:v>Nov</c:v>
                  </c:pt>
                  <c:pt idx="11">
                    <c:v>Dec</c:v>
                  </c:pt>
                  <c:pt idx="12">
                    <c:v>Jan</c:v>
                  </c:pt>
                  <c:pt idx="13">
                    <c:v>Feb</c:v>
                  </c:pt>
                  <c:pt idx="14">
                    <c:v>Mar</c:v>
                  </c:pt>
                  <c:pt idx="15">
                    <c:v>Apr</c:v>
                  </c:pt>
                  <c:pt idx="16">
                    <c:v>May</c:v>
                  </c:pt>
                  <c:pt idx="17">
                    <c:v>Jun</c:v>
                  </c:pt>
                  <c:pt idx="18">
                    <c:v>Jul</c:v>
                  </c:pt>
                  <c:pt idx="19">
                    <c:v>Aug</c:v>
                  </c:pt>
                  <c:pt idx="20">
                    <c:v>Sep</c:v>
                  </c:pt>
                  <c:pt idx="21">
                    <c:v>Oct</c:v>
                  </c:pt>
                  <c:pt idx="22">
                    <c:v>Nov</c:v>
                  </c:pt>
                  <c:pt idx="23">
                    <c:v>Dec</c:v>
                  </c:pt>
                  <c:pt idx="24">
                    <c:v>Jan</c:v>
                  </c:pt>
                  <c:pt idx="25">
                    <c:v>Feb</c:v>
                  </c:pt>
                  <c:pt idx="26">
                    <c:v>Mar</c:v>
                  </c:pt>
                  <c:pt idx="27">
                    <c:v>Apr</c:v>
                  </c:pt>
                  <c:pt idx="28">
                    <c:v>May</c:v>
                  </c:pt>
                  <c:pt idx="29">
                    <c:v>Jun</c:v>
                  </c:pt>
                  <c:pt idx="30">
                    <c:v>Jul</c:v>
                  </c:pt>
                  <c:pt idx="31">
                    <c:v>Aug</c:v>
                  </c:pt>
                  <c:pt idx="32">
                    <c:v>Sep</c:v>
                  </c:pt>
                  <c:pt idx="33">
                    <c:v>Oct</c:v>
                  </c:pt>
                  <c:pt idx="34">
                    <c:v>Nov</c:v>
                  </c:pt>
                  <c:pt idx="35">
                    <c:v>Dec</c:v>
                  </c:pt>
                  <c:pt idx="36">
                    <c:v>Jan</c:v>
                  </c:pt>
                  <c:pt idx="37">
                    <c:v>Feb</c:v>
                  </c:pt>
                  <c:pt idx="38">
                    <c:v>Mar</c:v>
                  </c:pt>
                  <c:pt idx="39">
                    <c:v>Apr</c:v>
                  </c:pt>
                  <c:pt idx="40">
                    <c:v>May</c:v>
                  </c:pt>
                  <c:pt idx="41">
                    <c:v>Jun</c:v>
                  </c:pt>
                  <c:pt idx="42">
                    <c:v>Jul</c:v>
                  </c:pt>
                  <c:pt idx="43">
                    <c:v>Aug</c:v>
                  </c:pt>
                  <c:pt idx="44">
                    <c:v>Sep</c:v>
                  </c:pt>
                  <c:pt idx="45">
                    <c:v>Oct</c:v>
                  </c:pt>
                  <c:pt idx="46">
                    <c:v>Nov</c:v>
                  </c:pt>
                  <c:pt idx="47">
                    <c:v>Dec</c:v>
                  </c:pt>
                  <c:pt idx="48">
                    <c:v>Jan</c:v>
                  </c:pt>
                  <c:pt idx="49">
                    <c:v>Feb</c:v>
                  </c:pt>
                  <c:pt idx="50">
                    <c:v>Mar</c:v>
                  </c:pt>
                  <c:pt idx="51">
                    <c:v>Apr</c:v>
                  </c:pt>
                  <c:pt idx="52">
                    <c:v>May</c:v>
                  </c:pt>
                  <c:pt idx="53">
                    <c:v>Jun</c:v>
                  </c:pt>
                  <c:pt idx="54">
                    <c:v>Jul</c:v>
                  </c:pt>
                  <c:pt idx="55">
                    <c:v>Aug</c:v>
                  </c:pt>
                  <c:pt idx="56">
                    <c:v>Sep</c:v>
                  </c:pt>
                  <c:pt idx="57">
                    <c:v>Oct</c:v>
                  </c:pt>
                  <c:pt idx="58">
                    <c:v>Nov</c:v>
                  </c:pt>
                  <c:pt idx="59">
                    <c:v>Dec</c:v>
                  </c:pt>
                </c:lvl>
                <c:lvl>
                  <c:pt idx="0">
                    <c:v>Qtr1</c:v>
                  </c:pt>
                  <c:pt idx="3">
                    <c:v>Qtr2</c:v>
                  </c:pt>
                  <c:pt idx="6">
                    <c:v>Qtr3</c:v>
                  </c:pt>
                  <c:pt idx="9">
                    <c:v>Qtr4</c:v>
                  </c:pt>
                  <c:pt idx="12">
                    <c:v>Qtr1</c:v>
                  </c:pt>
                  <c:pt idx="15">
                    <c:v>Qtr2</c:v>
                  </c:pt>
                  <c:pt idx="18">
                    <c:v>Qtr3</c:v>
                  </c:pt>
                  <c:pt idx="21">
                    <c:v>Qtr4</c:v>
                  </c:pt>
                  <c:pt idx="24">
                    <c:v>Qtr1</c:v>
                  </c:pt>
                  <c:pt idx="27">
                    <c:v>Qtr2</c:v>
                  </c:pt>
                  <c:pt idx="30">
                    <c:v>Qtr3</c:v>
                  </c:pt>
                  <c:pt idx="33">
                    <c:v>Qtr4</c:v>
                  </c:pt>
                  <c:pt idx="36">
                    <c:v>Qtr1</c:v>
                  </c:pt>
                  <c:pt idx="39">
                    <c:v>Qtr2</c:v>
                  </c:pt>
                  <c:pt idx="42">
                    <c:v>Qtr3</c:v>
                  </c:pt>
                  <c:pt idx="45">
                    <c:v>Qtr4</c:v>
                  </c:pt>
                  <c:pt idx="48">
                    <c:v>Qtr1</c:v>
                  </c:pt>
                  <c:pt idx="51">
                    <c:v>Qtr2</c:v>
                  </c:pt>
                  <c:pt idx="54">
                    <c:v>Qtr3</c:v>
                  </c:pt>
                  <c:pt idx="57">
                    <c:v>Qtr4</c:v>
                  </c:pt>
                </c:lvl>
                <c:lvl>
                  <c:pt idx="0">
                    <c:v>2016</c:v>
                  </c:pt>
                  <c:pt idx="12">
                    <c:v>2017</c:v>
                  </c:pt>
                  <c:pt idx="24">
                    <c:v>2018</c:v>
                  </c:pt>
                  <c:pt idx="36">
                    <c:v>2019</c:v>
                  </c:pt>
                  <c:pt idx="48">
                    <c:v>2020</c:v>
                  </c:pt>
                </c:lvl>
              </c:multiLvlStrCache>
            </c:multiLvlStrRef>
          </c:cat>
          <c:val>
            <c:numRef>
              <c:f>'Pivot Tables'!$AC$4:$AC$89</c:f>
              <c:numCache>
                <c:formatCode>General</c:formatCode>
                <c:ptCount val="60"/>
                <c:pt idx="0">
                  <c:v>4.565022421524664</c:v>
                </c:pt>
                <c:pt idx="1">
                  <c:v>4.5965909090909092</c:v>
                </c:pt>
                <c:pt idx="2">
                  <c:v>4.4823529411764707</c:v>
                </c:pt>
                <c:pt idx="3">
                  <c:v>4.5815939278937385</c:v>
                </c:pt>
                <c:pt idx="4">
                  <c:v>4.6836206896551724</c:v>
                </c:pt>
                <c:pt idx="5">
                  <c:v>4.59372026641294</c:v>
                </c:pt>
                <c:pt idx="6">
                  <c:v>4.6857402361489555</c:v>
                </c:pt>
                <c:pt idx="7">
                  <c:v>4.4486238532110089</c:v>
                </c:pt>
                <c:pt idx="8">
                  <c:v>4.4882186616399622</c:v>
                </c:pt>
                <c:pt idx="9">
                  <c:v>4.5110294117647056</c:v>
                </c:pt>
                <c:pt idx="10">
                  <c:v>4.5353728489483744</c:v>
                </c:pt>
                <c:pt idx="11">
                  <c:v>4.4448398576512451</c:v>
                </c:pt>
                <c:pt idx="12">
                  <c:v>4.7795555555555556</c:v>
                </c:pt>
                <c:pt idx="13">
                  <c:v>4.4995655951346656</c:v>
                </c:pt>
                <c:pt idx="14">
                  <c:v>4.4247856586126266</c:v>
                </c:pt>
                <c:pt idx="15">
                  <c:v>4.5068273092369475</c:v>
                </c:pt>
                <c:pt idx="16">
                  <c:v>4.4981412639405205</c:v>
                </c:pt>
                <c:pt idx="17">
                  <c:v>4.502411575562701</c:v>
                </c:pt>
                <c:pt idx="18">
                  <c:v>4.4014598540145986</c:v>
                </c:pt>
                <c:pt idx="19">
                  <c:v>4.725178713264496</c:v>
                </c:pt>
                <c:pt idx="20">
                  <c:v>4.4579591836734691</c:v>
                </c:pt>
                <c:pt idx="21">
                  <c:v>4.5195402298850578</c:v>
                </c:pt>
                <c:pt idx="22">
                  <c:v>4.6484312148028959</c:v>
                </c:pt>
                <c:pt idx="23">
                  <c:v>4.4216388225934766</c:v>
                </c:pt>
                <c:pt idx="24">
                  <c:v>4.4577191621411947</c:v>
                </c:pt>
                <c:pt idx="25">
                  <c:v>4.5494359654943599</c:v>
                </c:pt>
                <c:pt idx="26">
                  <c:v>4.6340136054421768</c:v>
                </c:pt>
                <c:pt idx="27">
                  <c:v>4.6410571604179474</c:v>
                </c:pt>
                <c:pt idx="28">
                  <c:v>4.6291591046581972</c:v>
                </c:pt>
                <c:pt idx="29">
                  <c:v>4.6823671497584538</c:v>
                </c:pt>
                <c:pt idx="30">
                  <c:v>4.5370370370370372</c:v>
                </c:pt>
                <c:pt idx="31">
                  <c:v>4.3702816057519476</c:v>
                </c:pt>
                <c:pt idx="32">
                  <c:v>4.5927960927960925</c:v>
                </c:pt>
                <c:pt idx="33">
                  <c:v>4.5024096385542167</c:v>
                </c:pt>
                <c:pt idx="34">
                  <c:v>4.4600246002460029</c:v>
                </c:pt>
                <c:pt idx="35">
                  <c:v>4.640025990903184</c:v>
                </c:pt>
                <c:pt idx="36">
                  <c:v>4.5624178712220766</c:v>
                </c:pt>
                <c:pt idx="37">
                  <c:v>4.6529209621993131</c:v>
                </c:pt>
                <c:pt idx="38">
                  <c:v>4.4544962080173347</c:v>
                </c:pt>
                <c:pt idx="39">
                  <c:v>4.5043804755944929</c:v>
                </c:pt>
                <c:pt idx="40">
                  <c:v>4.4186851211072664</c:v>
                </c:pt>
                <c:pt idx="41">
                  <c:v>4.5785714285714283</c:v>
                </c:pt>
                <c:pt idx="42">
                  <c:v>4.4859416445623346</c:v>
                </c:pt>
                <c:pt idx="43">
                  <c:v>4.5317585301837271</c:v>
                </c:pt>
                <c:pt idx="44">
                  <c:v>4.4698275862068968</c:v>
                </c:pt>
                <c:pt idx="45">
                  <c:v>4.6688000000000001</c:v>
                </c:pt>
                <c:pt idx="46">
                  <c:v>4.410158383397051</c:v>
                </c:pt>
                <c:pt idx="47">
                  <c:v>4.5160256410256414</c:v>
                </c:pt>
                <c:pt idx="48">
                  <c:v>4.5554541305340024</c:v>
                </c:pt>
                <c:pt idx="49">
                  <c:v>4.5977058582548134</c:v>
                </c:pt>
                <c:pt idx="50">
                  <c:v>4.687797147385103</c:v>
                </c:pt>
                <c:pt idx="51">
                  <c:v>4.5681723995026937</c:v>
                </c:pt>
                <c:pt idx="52">
                  <c:v>4.5966801256168681</c:v>
                </c:pt>
                <c:pt idx="53">
                  <c:v>4.6801687763713078</c:v>
                </c:pt>
                <c:pt idx="54">
                  <c:v>4.6450022411474672</c:v>
                </c:pt>
                <c:pt idx="55">
                  <c:v>4.4816835541699147</c:v>
                </c:pt>
                <c:pt idx="56">
                  <c:v>4.4940549405494057</c:v>
                </c:pt>
                <c:pt idx="57">
                  <c:v>4.5687573042462022</c:v>
                </c:pt>
                <c:pt idx="58">
                  <c:v>4.5207336523125994</c:v>
                </c:pt>
                <c:pt idx="59">
                  <c:v>4.640858566500575</c:v>
                </c:pt>
              </c:numCache>
            </c:numRef>
          </c:val>
          <c:smooth val="0"/>
          <c:extLst>
            <c:ext xmlns:c16="http://schemas.microsoft.com/office/drawing/2014/chart" uri="{C3380CC4-5D6E-409C-BE32-E72D297353CC}">
              <c16:uniqueId val="{00000000-8B0E-4DA0-98CB-3D5C1EBD1BAF}"/>
            </c:ext>
          </c:extLst>
        </c:ser>
        <c:ser>
          <c:idx val="1"/>
          <c:order val="1"/>
          <c:tx>
            <c:strRef>
              <c:f>'Pivot Tables'!$AD$3</c:f>
              <c:strCache>
                <c:ptCount val="1"/>
                <c:pt idx="0">
                  <c:v>Average of Satisfaction Rate</c:v>
                </c:pt>
              </c:strCache>
            </c:strRef>
          </c:tx>
          <c:spPr>
            <a:ln w="28575" cap="rnd">
              <a:solidFill>
                <a:schemeClr val="accent2"/>
              </a:solidFill>
              <a:round/>
            </a:ln>
            <a:effectLst/>
          </c:spPr>
          <c:marker>
            <c:symbol val="none"/>
          </c:marker>
          <c:cat>
            <c:multiLvlStrRef>
              <c:f>'Pivot Tables'!$AB$4:$AB$89</c:f>
              <c:multiLvlStrCache>
                <c:ptCount val="60"/>
                <c:lvl>
                  <c:pt idx="0">
                    <c:v>Jan</c:v>
                  </c:pt>
                  <c:pt idx="1">
                    <c:v>Feb</c:v>
                  </c:pt>
                  <c:pt idx="2">
                    <c:v>Mar</c:v>
                  </c:pt>
                  <c:pt idx="3">
                    <c:v>Apr</c:v>
                  </c:pt>
                  <c:pt idx="4">
                    <c:v>May</c:v>
                  </c:pt>
                  <c:pt idx="5">
                    <c:v>Jun</c:v>
                  </c:pt>
                  <c:pt idx="6">
                    <c:v>Jul</c:v>
                  </c:pt>
                  <c:pt idx="7">
                    <c:v>Aug</c:v>
                  </c:pt>
                  <c:pt idx="8">
                    <c:v>Sep</c:v>
                  </c:pt>
                  <c:pt idx="9">
                    <c:v>Oct</c:v>
                  </c:pt>
                  <c:pt idx="10">
                    <c:v>Nov</c:v>
                  </c:pt>
                  <c:pt idx="11">
                    <c:v>Dec</c:v>
                  </c:pt>
                  <c:pt idx="12">
                    <c:v>Jan</c:v>
                  </c:pt>
                  <c:pt idx="13">
                    <c:v>Feb</c:v>
                  </c:pt>
                  <c:pt idx="14">
                    <c:v>Mar</c:v>
                  </c:pt>
                  <c:pt idx="15">
                    <c:v>Apr</c:v>
                  </c:pt>
                  <c:pt idx="16">
                    <c:v>May</c:v>
                  </c:pt>
                  <c:pt idx="17">
                    <c:v>Jun</c:v>
                  </c:pt>
                  <c:pt idx="18">
                    <c:v>Jul</c:v>
                  </c:pt>
                  <c:pt idx="19">
                    <c:v>Aug</c:v>
                  </c:pt>
                  <c:pt idx="20">
                    <c:v>Sep</c:v>
                  </c:pt>
                  <c:pt idx="21">
                    <c:v>Oct</c:v>
                  </c:pt>
                  <c:pt idx="22">
                    <c:v>Nov</c:v>
                  </c:pt>
                  <c:pt idx="23">
                    <c:v>Dec</c:v>
                  </c:pt>
                  <c:pt idx="24">
                    <c:v>Jan</c:v>
                  </c:pt>
                  <c:pt idx="25">
                    <c:v>Feb</c:v>
                  </c:pt>
                  <c:pt idx="26">
                    <c:v>Mar</c:v>
                  </c:pt>
                  <c:pt idx="27">
                    <c:v>Apr</c:v>
                  </c:pt>
                  <c:pt idx="28">
                    <c:v>May</c:v>
                  </c:pt>
                  <c:pt idx="29">
                    <c:v>Jun</c:v>
                  </c:pt>
                  <c:pt idx="30">
                    <c:v>Jul</c:v>
                  </c:pt>
                  <c:pt idx="31">
                    <c:v>Aug</c:v>
                  </c:pt>
                  <c:pt idx="32">
                    <c:v>Sep</c:v>
                  </c:pt>
                  <c:pt idx="33">
                    <c:v>Oct</c:v>
                  </c:pt>
                  <c:pt idx="34">
                    <c:v>Nov</c:v>
                  </c:pt>
                  <c:pt idx="35">
                    <c:v>Dec</c:v>
                  </c:pt>
                  <c:pt idx="36">
                    <c:v>Jan</c:v>
                  </c:pt>
                  <c:pt idx="37">
                    <c:v>Feb</c:v>
                  </c:pt>
                  <c:pt idx="38">
                    <c:v>Mar</c:v>
                  </c:pt>
                  <c:pt idx="39">
                    <c:v>Apr</c:v>
                  </c:pt>
                  <c:pt idx="40">
                    <c:v>May</c:v>
                  </c:pt>
                  <c:pt idx="41">
                    <c:v>Jun</c:v>
                  </c:pt>
                  <c:pt idx="42">
                    <c:v>Jul</c:v>
                  </c:pt>
                  <c:pt idx="43">
                    <c:v>Aug</c:v>
                  </c:pt>
                  <c:pt idx="44">
                    <c:v>Sep</c:v>
                  </c:pt>
                  <c:pt idx="45">
                    <c:v>Oct</c:v>
                  </c:pt>
                  <c:pt idx="46">
                    <c:v>Nov</c:v>
                  </c:pt>
                  <c:pt idx="47">
                    <c:v>Dec</c:v>
                  </c:pt>
                  <c:pt idx="48">
                    <c:v>Jan</c:v>
                  </c:pt>
                  <c:pt idx="49">
                    <c:v>Feb</c:v>
                  </c:pt>
                  <c:pt idx="50">
                    <c:v>Mar</c:v>
                  </c:pt>
                  <c:pt idx="51">
                    <c:v>Apr</c:v>
                  </c:pt>
                  <c:pt idx="52">
                    <c:v>May</c:v>
                  </c:pt>
                  <c:pt idx="53">
                    <c:v>Jun</c:v>
                  </c:pt>
                  <c:pt idx="54">
                    <c:v>Jul</c:v>
                  </c:pt>
                  <c:pt idx="55">
                    <c:v>Aug</c:v>
                  </c:pt>
                  <c:pt idx="56">
                    <c:v>Sep</c:v>
                  </c:pt>
                  <c:pt idx="57">
                    <c:v>Oct</c:v>
                  </c:pt>
                  <c:pt idx="58">
                    <c:v>Nov</c:v>
                  </c:pt>
                  <c:pt idx="59">
                    <c:v>Dec</c:v>
                  </c:pt>
                </c:lvl>
                <c:lvl>
                  <c:pt idx="0">
                    <c:v>Qtr1</c:v>
                  </c:pt>
                  <c:pt idx="3">
                    <c:v>Qtr2</c:v>
                  </c:pt>
                  <c:pt idx="6">
                    <c:v>Qtr3</c:v>
                  </c:pt>
                  <c:pt idx="9">
                    <c:v>Qtr4</c:v>
                  </c:pt>
                  <c:pt idx="12">
                    <c:v>Qtr1</c:v>
                  </c:pt>
                  <c:pt idx="15">
                    <c:v>Qtr2</c:v>
                  </c:pt>
                  <c:pt idx="18">
                    <c:v>Qtr3</c:v>
                  </c:pt>
                  <c:pt idx="21">
                    <c:v>Qtr4</c:v>
                  </c:pt>
                  <c:pt idx="24">
                    <c:v>Qtr1</c:v>
                  </c:pt>
                  <c:pt idx="27">
                    <c:v>Qtr2</c:v>
                  </c:pt>
                  <c:pt idx="30">
                    <c:v>Qtr3</c:v>
                  </c:pt>
                  <c:pt idx="33">
                    <c:v>Qtr4</c:v>
                  </c:pt>
                  <c:pt idx="36">
                    <c:v>Qtr1</c:v>
                  </c:pt>
                  <c:pt idx="39">
                    <c:v>Qtr2</c:v>
                  </c:pt>
                  <c:pt idx="42">
                    <c:v>Qtr3</c:v>
                  </c:pt>
                  <c:pt idx="45">
                    <c:v>Qtr4</c:v>
                  </c:pt>
                  <c:pt idx="48">
                    <c:v>Qtr1</c:v>
                  </c:pt>
                  <c:pt idx="51">
                    <c:v>Qtr2</c:v>
                  </c:pt>
                  <c:pt idx="54">
                    <c:v>Qtr3</c:v>
                  </c:pt>
                  <c:pt idx="57">
                    <c:v>Qtr4</c:v>
                  </c:pt>
                </c:lvl>
                <c:lvl>
                  <c:pt idx="0">
                    <c:v>2016</c:v>
                  </c:pt>
                  <c:pt idx="12">
                    <c:v>2017</c:v>
                  </c:pt>
                  <c:pt idx="24">
                    <c:v>2018</c:v>
                  </c:pt>
                  <c:pt idx="36">
                    <c:v>2019</c:v>
                  </c:pt>
                  <c:pt idx="48">
                    <c:v>2020</c:v>
                  </c:pt>
                </c:lvl>
              </c:multiLvlStrCache>
            </c:multiLvlStrRef>
          </c:cat>
          <c:val>
            <c:numRef>
              <c:f>'Pivot Tables'!$AD$4:$AD$89</c:f>
              <c:numCache>
                <c:formatCode>General</c:formatCode>
                <c:ptCount val="60"/>
                <c:pt idx="0">
                  <c:v>3.9605381165919282</c:v>
                </c:pt>
                <c:pt idx="1">
                  <c:v>3.9346590909090908</c:v>
                </c:pt>
                <c:pt idx="2">
                  <c:v>3.949321266968326</c:v>
                </c:pt>
                <c:pt idx="3">
                  <c:v>4.0123339658444026</c:v>
                </c:pt>
                <c:pt idx="4">
                  <c:v>3.9336206896551724</c:v>
                </c:pt>
                <c:pt idx="5">
                  <c:v>3.955280685061846</c:v>
                </c:pt>
                <c:pt idx="6">
                  <c:v>3.9509536784741144</c:v>
                </c:pt>
                <c:pt idx="7">
                  <c:v>3.9990825688073395</c:v>
                </c:pt>
                <c:pt idx="8">
                  <c:v>4.0047125353440149</c:v>
                </c:pt>
                <c:pt idx="9">
                  <c:v>3.9595588235294117</c:v>
                </c:pt>
                <c:pt idx="10">
                  <c:v>4.0430210325047797</c:v>
                </c:pt>
                <c:pt idx="11">
                  <c:v>4.0569395017793592</c:v>
                </c:pt>
                <c:pt idx="12">
                  <c:v>4.1431111111111107</c:v>
                </c:pt>
                <c:pt idx="13">
                  <c:v>4.0208514335360555</c:v>
                </c:pt>
                <c:pt idx="14">
                  <c:v>4.0366328916601715</c:v>
                </c:pt>
                <c:pt idx="15">
                  <c:v>4.0530120481927714</c:v>
                </c:pt>
                <c:pt idx="16">
                  <c:v>4.0289962825278813</c:v>
                </c:pt>
                <c:pt idx="17">
                  <c:v>4.102090032154341</c:v>
                </c:pt>
                <c:pt idx="18">
                  <c:v>4.0819140308191404</c:v>
                </c:pt>
                <c:pt idx="19">
                  <c:v>4.0516282764098488</c:v>
                </c:pt>
                <c:pt idx="20">
                  <c:v>4.0653061224489795</c:v>
                </c:pt>
                <c:pt idx="21">
                  <c:v>4.0980842911877398</c:v>
                </c:pt>
                <c:pt idx="22">
                  <c:v>4.0667739340305715</c:v>
                </c:pt>
                <c:pt idx="23">
                  <c:v>4.0755767700875101</c:v>
                </c:pt>
                <c:pt idx="24">
                  <c:v>4.2265321955003881</c:v>
                </c:pt>
                <c:pt idx="25">
                  <c:v>4.0570670205706705</c:v>
                </c:pt>
                <c:pt idx="26">
                  <c:v>4.1149659863945578</c:v>
                </c:pt>
                <c:pt idx="27">
                  <c:v>4.1001843884449904</c:v>
                </c:pt>
                <c:pt idx="28">
                  <c:v>4.0568663036902599</c:v>
                </c:pt>
                <c:pt idx="29">
                  <c:v>4.0609903381642516</c:v>
                </c:pt>
                <c:pt idx="30">
                  <c:v>4.0790123456790122</c:v>
                </c:pt>
                <c:pt idx="31">
                  <c:v>4.0892750149790293</c:v>
                </c:pt>
                <c:pt idx="32">
                  <c:v>4.0946275946275943</c:v>
                </c:pt>
                <c:pt idx="33">
                  <c:v>4.0560240963855421</c:v>
                </c:pt>
                <c:pt idx="34">
                  <c:v>4.1033210332103325</c:v>
                </c:pt>
                <c:pt idx="35">
                  <c:v>4.0929174788823914</c:v>
                </c:pt>
                <c:pt idx="36">
                  <c:v>4.2056504599211566</c:v>
                </c:pt>
                <c:pt idx="37">
                  <c:v>4.0784650630011452</c:v>
                </c:pt>
                <c:pt idx="38">
                  <c:v>4.1213434452871072</c:v>
                </c:pt>
                <c:pt idx="39">
                  <c:v>4.1770963704630786</c:v>
                </c:pt>
                <c:pt idx="40">
                  <c:v>4.1695501730103803</c:v>
                </c:pt>
                <c:pt idx="41">
                  <c:v>4.0840659340659338</c:v>
                </c:pt>
                <c:pt idx="42">
                  <c:v>4.1161803713527849</c:v>
                </c:pt>
                <c:pt idx="43">
                  <c:v>4.1396325459317582</c:v>
                </c:pt>
                <c:pt idx="44">
                  <c:v>4.1239224137931032</c:v>
                </c:pt>
                <c:pt idx="45">
                  <c:v>4.1024000000000003</c:v>
                </c:pt>
                <c:pt idx="46">
                  <c:v>4.0988530857454943</c:v>
                </c:pt>
                <c:pt idx="47">
                  <c:v>4.0737179487179489</c:v>
                </c:pt>
                <c:pt idx="48">
                  <c:v>4.1716111364673667</c:v>
                </c:pt>
                <c:pt idx="49">
                  <c:v>4.1593609176566977</c:v>
                </c:pt>
                <c:pt idx="50">
                  <c:v>4.0879556259904914</c:v>
                </c:pt>
                <c:pt idx="51">
                  <c:v>4.1566514711976792</c:v>
                </c:pt>
                <c:pt idx="52">
                  <c:v>4.2462987886944816</c:v>
                </c:pt>
                <c:pt idx="53">
                  <c:v>4.176793248945148</c:v>
                </c:pt>
                <c:pt idx="54">
                  <c:v>4.2720753025549083</c:v>
                </c:pt>
                <c:pt idx="55">
                  <c:v>4.1395167575993765</c:v>
                </c:pt>
                <c:pt idx="56">
                  <c:v>4.1521115211152111</c:v>
                </c:pt>
                <c:pt idx="57">
                  <c:v>4.1254382547721073</c:v>
                </c:pt>
                <c:pt idx="58">
                  <c:v>4.1172248803827749</c:v>
                </c:pt>
                <c:pt idx="59">
                  <c:v>4.1556151782292066</c:v>
                </c:pt>
              </c:numCache>
            </c:numRef>
          </c:val>
          <c:smooth val="0"/>
          <c:extLst>
            <c:ext xmlns:c16="http://schemas.microsoft.com/office/drawing/2014/chart" uri="{C3380CC4-5D6E-409C-BE32-E72D297353CC}">
              <c16:uniqueId val="{00000001-8B0E-4DA0-98CB-3D5C1EBD1BAF}"/>
            </c:ext>
          </c:extLst>
        </c:ser>
        <c:dLbls>
          <c:showLegendKey val="0"/>
          <c:showVal val="0"/>
          <c:showCatName val="0"/>
          <c:showSerName val="0"/>
          <c:showPercent val="0"/>
          <c:showBubbleSize val="0"/>
        </c:dLbls>
        <c:smooth val="0"/>
        <c:axId val="1488013360"/>
        <c:axId val="1488008080"/>
      </c:lineChart>
      <c:catAx>
        <c:axId val="148801336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88008080"/>
        <c:crosses val="autoZero"/>
        <c:auto val="1"/>
        <c:lblAlgn val="ctr"/>
        <c:lblOffset val="100"/>
        <c:noMultiLvlLbl val="0"/>
      </c:catAx>
      <c:valAx>
        <c:axId val="14880080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88013360"/>
        <c:crosses val="autoZero"/>
        <c:crossBetween val="between"/>
      </c:valAx>
      <c:spPr>
        <a:noFill/>
        <a:ln>
          <a:noFill/>
        </a:ln>
        <a:effectLst/>
      </c:spPr>
    </c:plotArea>
    <c:legend>
      <c:legendPos val="r"/>
      <c:layout>
        <c:manualLayout>
          <c:xMode val="edge"/>
          <c:yMode val="edge"/>
          <c:x val="0.58290378006872845"/>
          <c:y val="0.81361769240728321"/>
          <c:w val="0.33333333333333331"/>
          <c:h val="0.1533027317773619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 Tickets Analysis (1).xlsx]Pivot Table 2!age group</c:name>
    <c:fmtId val="8"/>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a:solidFill>
                  <a:schemeClr val="tx1"/>
                </a:solidFill>
              </a:rPr>
              <a:t>Satisfaction Rate By</a:t>
            </a:r>
            <a:r>
              <a:rPr lang="en-US" b="1" baseline="0">
                <a:solidFill>
                  <a:schemeClr val="tx1"/>
                </a:solidFill>
              </a:rPr>
              <a:t> Age Group</a:t>
            </a:r>
            <a:endParaRPr lang="en-US" b="1">
              <a:solidFill>
                <a:schemeClr val="tx1"/>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 Table 2'!$AI$1</c:f>
              <c:strCache>
                <c:ptCount val="1"/>
                <c:pt idx="0">
                  <c:v>Total</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Table 2'!$AH$2:$AH$10</c:f>
              <c:strCache>
                <c:ptCount val="8"/>
                <c:pt idx="0">
                  <c:v>29-31</c:v>
                </c:pt>
                <c:pt idx="1">
                  <c:v>32-34</c:v>
                </c:pt>
                <c:pt idx="2">
                  <c:v>35-37</c:v>
                </c:pt>
                <c:pt idx="3">
                  <c:v>38-40</c:v>
                </c:pt>
                <c:pt idx="4">
                  <c:v>41-43</c:v>
                </c:pt>
                <c:pt idx="5">
                  <c:v>44-46</c:v>
                </c:pt>
                <c:pt idx="6">
                  <c:v>47-49</c:v>
                </c:pt>
                <c:pt idx="7">
                  <c:v>50-53</c:v>
                </c:pt>
              </c:strCache>
            </c:strRef>
          </c:cat>
          <c:val>
            <c:numRef>
              <c:f>'Pivot Table 2'!$AI$2:$AI$10</c:f>
              <c:numCache>
                <c:formatCode>General</c:formatCode>
                <c:ptCount val="8"/>
                <c:pt idx="0">
                  <c:v>4.5</c:v>
                </c:pt>
                <c:pt idx="1">
                  <c:v>5</c:v>
                </c:pt>
                <c:pt idx="2">
                  <c:v>3</c:v>
                </c:pt>
                <c:pt idx="3">
                  <c:v>5</c:v>
                </c:pt>
                <c:pt idx="4">
                  <c:v>2.6666666666666665</c:v>
                </c:pt>
                <c:pt idx="5">
                  <c:v>4.1111111111111107</c:v>
                </c:pt>
                <c:pt idx="6">
                  <c:v>5</c:v>
                </c:pt>
                <c:pt idx="7">
                  <c:v>5</c:v>
                </c:pt>
              </c:numCache>
            </c:numRef>
          </c:val>
          <c:extLst>
            <c:ext xmlns:c16="http://schemas.microsoft.com/office/drawing/2014/chart" uri="{C3380CC4-5D6E-409C-BE32-E72D297353CC}">
              <c16:uniqueId val="{00000000-8DA7-4988-B7C6-9F684FBAE59D}"/>
            </c:ext>
          </c:extLst>
        </c:ser>
        <c:dLbls>
          <c:dLblPos val="outEnd"/>
          <c:showLegendKey val="0"/>
          <c:showVal val="1"/>
          <c:showCatName val="0"/>
          <c:showSerName val="0"/>
          <c:showPercent val="0"/>
          <c:showBubbleSize val="0"/>
        </c:dLbls>
        <c:gapWidth val="219"/>
        <c:overlap val="-27"/>
        <c:axId val="1207239567"/>
        <c:axId val="1207236687"/>
      </c:barChart>
      <c:catAx>
        <c:axId val="1207239567"/>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 Age</a:t>
                </a:r>
                <a:r>
                  <a:rPr lang="en-IN" baseline="0"/>
                  <a:t> Group</a:t>
                </a:r>
                <a:endParaRPr lang="en-IN"/>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07236687"/>
        <c:crosses val="autoZero"/>
        <c:auto val="1"/>
        <c:lblAlgn val="ctr"/>
        <c:lblOffset val="100"/>
        <c:noMultiLvlLbl val="0"/>
      </c:catAx>
      <c:valAx>
        <c:axId val="1207236687"/>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Satisfaction</a:t>
                </a:r>
                <a:r>
                  <a:rPr lang="en-IN" baseline="0"/>
                  <a:t> Rate</a:t>
                </a:r>
                <a:endParaRPr lang="en-IN"/>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0723956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9">
  <cs:axisTitle>
    <cs:lnRef idx="0"/>
    <cs:fillRef idx="0"/>
    <cs:effectRef idx="0"/>
    <cs:fontRef idx="minor">
      <a:schemeClr val="lt1"/>
    </cs:fontRef>
    <cs:defRPr sz="1197" b="1" kern="1200"/>
  </cs:axisTitle>
  <cs:categoryAxis>
    <cs:lnRef idx="0">
      <cs:styleClr val="0"/>
    </cs:lnRef>
    <cs:fillRef idx="0"/>
    <cs:effectRef idx="0"/>
    <cs:fontRef idx="minor">
      <a:schemeClr val="lt1"/>
    </cs:fontRef>
    <cs:spPr>
      <a:ln w="12700" cap="flat" cmpd="sng" algn="ctr">
        <a:solidFill>
          <a:schemeClr val="lt1"/>
        </a:solidFill>
        <a:round/>
      </a:ln>
    </cs:spPr>
    <cs:defRPr sz="1197" kern="1200" spc="100" baseline="0"/>
  </cs:categoryAxis>
  <cs:chartArea>
    <cs:lnRef idx="0">
      <cs:styleClr val="0"/>
    </cs:lnRef>
    <cs:fillRef idx="0">
      <cs:styleClr val="0"/>
    </cs:fillRef>
    <cs:effectRef idx="0"/>
    <cs:fontRef idx="minor">
      <a:schemeClr val="dk1"/>
    </cs:fontRef>
    <cs:spPr>
      <a:solidFill>
        <a:schemeClr val="phClr"/>
      </a:solidFill>
      <a:ln w="9525" cap="flat" cmpd="sng" algn="ctr">
        <a:solidFill>
          <a:schemeClr val="phClr"/>
        </a:solidFill>
        <a:round/>
      </a:ln>
    </cs:spPr>
    <cs:defRPr sz="1330" kern="1200"/>
  </cs:chartArea>
  <cs:dataLabel>
    <cs:lnRef idx="0"/>
    <cs:fillRef idx="0"/>
    <cs:effectRef idx="0"/>
    <cs:fontRef idx="minor">
      <a:schemeClr val="lt1"/>
    </cs:fontRef>
    <cs:defRPr sz="1197" b="1" kern="1200"/>
  </cs:dataLabel>
  <cs:dataLabelCallout>
    <cs:lnRef idx="0">
      <cs:styleClr val="auto"/>
    </cs:lnRef>
    <cs:fillRef idx="0"/>
    <cs:effectRef idx="0"/>
    <cs:fontRef idx="minor">
      <cs:styleClr val="auto"/>
    </cs:fontRef>
    <cs:spPr>
      <a:solidFill>
        <a:schemeClr val="lt1"/>
      </a:solidFill>
      <a:ln>
        <a:solidFill>
          <a:schemeClr val="ph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pattFill prst="ltUpDiag">
        <a:fgClr>
          <a:schemeClr val="phClr"/>
        </a:fgClr>
        <a:bgClr>
          <a:schemeClr val="lt1"/>
        </a:bgClr>
      </a:pattFill>
    </cs:spPr>
  </cs:dataPoint>
  <cs:dataPoint3D>
    <cs:lnRef idx="0"/>
    <cs:fillRef idx="0">
      <cs:styleClr val="auto"/>
    </cs:fillRef>
    <cs:effectRef idx="0"/>
    <cs:fontRef idx="minor">
      <a:schemeClr val="dk1"/>
    </cs:fontRef>
    <cs:spPr>
      <a:pattFill prst="ltUpDiag">
        <a:fgClr>
          <a:schemeClr val="phClr"/>
        </a:fgClr>
        <a:bgClr>
          <a:schemeClr val="lt1"/>
        </a:bgClr>
      </a:pattFill>
    </cs:spPr>
  </cs:dataPoint3D>
  <cs:dataPointLine>
    <cs:lnRef idx="0">
      <cs:styleClr val="auto"/>
    </cs:lnRef>
    <cs:fillRef idx="0"/>
    <cs:effectRef idx="0">
      <cs:styleClr val="auto"/>
    </cs:effectRef>
    <cs:fontRef idx="minor">
      <a:schemeClr val="dk1"/>
    </cs:fontRef>
    <cs:spPr>
      <a:ln w="34925" cap="rnd">
        <a:solidFill>
          <a:schemeClr val="lt1"/>
        </a:solidFill>
        <a:round/>
      </a:ln>
      <a:effectLst>
        <a:outerShdw dist="25400" dir="2700000" algn="tl" rotWithShape="0">
          <a:schemeClr val="phClr"/>
        </a:outerShdw>
      </a:effectLst>
    </cs:spPr>
  </cs:dataPointLine>
  <cs:dataPointMarker>
    <cs:lnRef idx="0"/>
    <cs:fillRef idx="0">
      <cs:styleClr val="auto"/>
    </cs:fillRef>
    <cs:effectRef idx="0"/>
    <cs:fontRef idx="minor">
      <a:schemeClr val="dk1"/>
    </cs:fontRef>
    <cs:spPr>
      <a:solidFill>
        <a:schemeClr val="phClr"/>
      </a:solidFill>
      <a:ln w="22225">
        <a:solidFill>
          <a:schemeClr val="lt1"/>
        </a:solidFill>
        <a:round/>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styleClr val="0"/>
    </cs:lnRef>
    <cs:fillRef idx="0"/>
    <cs:effectRef idx="0"/>
    <cs:fontRef idx="minor">
      <a:schemeClr val="lt1"/>
    </cs:fontRef>
    <cs:spPr>
      <a:ln w="9525">
        <a:solidFill>
          <a:schemeClr val="phClr">
            <a:lumMod val="60000"/>
            <a:lumOff val="40000"/>
          </a:schemeClr>
        </a:solidFill>
      </a:ln>
    </cs:spPr>
    <cs:defRPr sz="1197" kern="1200"/>
  </cs:dataTable>
  <cs:downBar>
    <cs:lnRef idx="0">
      <cs:styleClr val="0"/>
    </cs:lnRef>
    <cs:fillRef idx="0"/>
    <cs:effectRef idx="0"/>
    <cs:fontRef idx="minor">
      <a:schemeClr val="dk1"/>
    </cs:fontRef>
    <cs:spPr>
      <a:solidFill>
        <a:schemeClr val="dk1">
          <a:lumMod val="35000"/>
          <a:lumOff val="65000"/>
        </a:schemeClr>
      </a:solidFill>
      <a:ln w="9525">
        <a:solidFill>
          <a:schemeClr val="phClr">
            <a:lumMod val="60000"/>
            <a:lumOff val="40000"/>
          </a:schemeClr>
        </a:solidFill>
      </a:ln>
    </cs:spPr>
  </cs:downBar>
  <cs:dropLine>
    <cs:lnRef idx="0"/>
    <cs:fillRef idx="0"/>
    <cs:effectRef idx="0"/>
    <cs:fontRef idx="minor">
      <a:schemeClr val="dk1"/>
    </cs:fontRef>
    <cs:spPr>
      <a:ln w="9525" cap="flat" cmpd="sng" algn="ctr">
        <a:gradFill>
          <a:gsLst>
            <a:gs pos="0">
              <a:schemeClr val="lt1"/>
            </a:gs>
            <a:gs pos="100000">
              <a:schemeClr val="lt1">
                <a:alpha val="0"/>
              </a:schemeClr>
            </a:gs>
          </a:gsLst>
          <a:lin ang="5400000" scaled="0"/>
        </a:gradFill>
        <a:round/>
      </a:ln>
    </cs:spPr>
  </cs:dropLine>
  <cs:errorBar>
    <cs:lnRef idx="0">
      <cs:styleClr val="0"/>
    </cs:lnRef>
    <cs:fillRef idx="0"/>
    <cs:effectRef idx="0"/>
    <cs:fontRef idx="minor">
      <a:schemeClr val="dk1"/>
    </cs:fontRef>
    <cs:spPr>
      <a:ln w="9525">
        <a:solidFill>
          <a:schemeClr val="phClr">
            <a:lumMod val="60000"/>
            <a:lumOff val="40000"/>
          </a:schemeClr>
        </a:solidFill>
        <a:round/>
      </a:ln>
      <a:effectLst>
        <a:glow rad="25400">
          <a:schemeClr val="lt1"/>
        </a:glow>
      </a:effectLst>
    </cs:spPr>
  </cs:errorBar>
  <cs:floor>
    <cs:lnRef idx="0"/>
    <cs:fillRef idx="0"/>
    <cs:effectRef idx="0"/>
    <cs:fontRef idx="minor">
      <a:schemeClr val="dk1"/>
    </cs:fontRef>
  </cs:floor>
  <cs:gridlineMajor>
    <cs:lnRef idx="0">
      <cs:styleClr val="0"/>
    </cs:lnRef>
    <cs:fillRef idx="0"/>
    <cs:effectRef idx="0"/>
    <cs:fontRef idx="minor">
      <a:schemeClr val="dk1"/>
    </cs:fontRef>
    <cs:spPr>
      <a:ln w="9525" cap="flat" cmpd="sng" algn="ctr">
        <a:solidFill>
          <a:schemeClr val="lt1">
            <a:alpha val="25000"/>
          </a:schemeClr>
        </a:solidFill>
        <a:round/>
      </a:ln>
    </cs:spPr>
  </cs:gridlineMajor>
  <cs:gridlineMinor>
    <cs:lnRef idx="0">
      <cs:styleClr val="0"/>
    </cs:lnRef>
    <cs:fillRef idx="0"/>
    <cs:effectRef idx="0"/>
    <cs:fontRef idx="minor">
      <a:schemeClr val="dk1"/>
    </cs:fontRef>
    <cs:spPr>
      <a:ln>
        <a:solidFill>
          <a:schemeClr val="lt1">
            <a:alpha val="10000"/>
          </a:schemeClr>
        </a:solidFill>
      </a:ln>
    </cs:spPr>
  </cs:gridlineMinor>
  <cs:hiLoLine>
    <cs:lnRef idx="0">
      <cs:styleClr val="0"/>
    </cs:lnRef>
    <cs:fillRef idx="0"/>
    <cs:effectRef idx="0"/>
    <cs:fontRef idx="minor">
      <a:schemeClr val="dk1"/>
    </cs:fontRef>
    <cs:spPr>
      <a:ln w="9525">
        <a:solidFill>
          <a:schemeClr val="phClr">
            <a:lumMod val="60000"/>
            <a:lumOff val="40000"/>
          </a:schemeClr>
        </a:solidFill>
        <a:prstDash val="dash"/>
      </a:ln>
    </cs:spPr>
  </cs:hiLoLine>
  <cs:leaderLine>
    <cs:lnRef idx="0">
      <cs:styleClr val="0"/>
    </cs:lnRef>
    <cs:fillRef idx="0"/>
    <cs:effectRef idx="0"/>
    <cs:fontRef idx="minor">
      <a:schemeClr val="dk1"/>
    </cs:fontRef>
    <cs:spPr>
      <a:ln w="9525">
        <a:solidFill>
          <a:schemeClr val="phClr">
            <a:lumMod val="60000"/>
            <a:lumOff val="40000"/>
          </a:schemeClr>
        </a:solidFill>
      </a:ln>
    </cs:spPr>
  </cs:leaderLine>
  <cs:legend>
    <cs:lnRef idx="0"/>
    <cs:fillRef idx="0"/>
    <cs:effectRef idx="0"/>
    <cs:fontRef idx="minor">
      <a:schemeClr val="lt1"/>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styleClr val="0"/>
    </cs:lnRef>
    <cs:fillRef idx="0"/>
    <cs:effectRef idx="0"/>
    <cs:fontRef idx="minor">
      <a:schemeClr val="lt1"/>
    </cs:fontRef>
    <cs:spPr>
      <a:ln w="3175" cap="flat" cmpd="sng" algn="ctr">
        <a:solidFill>
          <a:schemeClr val="phClr">
            <a:lumMod val="60000"/>
            <a:lumOff val="40000"/>
          </a:schemeClr>
        </a:solidFill>
        <a:round/>
      </a:ln>
    </cs:spPr>
    <cs:defRPr sz="1197" kern="1200"/>
  </cs:seriesAxis>
  <cs:seriesLine>
    <cs:lnRef idx="0">
      <cs:styleClr val="0"/>
    </cs:lnRef>
    <cs:fillRef idx="0"/>
    <cs:effectRef idx="0"/>
    <cs:fontRef idx="minor">
      <a:schemeClr val="dk1"/>
    </cs:fontRef>
    <cs:spPr>
      <a:ln w="9525">
        <a:solidFill>
          <a:schemeClr val="phClr">
            <a:lumMod val="60000"/>
            <a:lumOff val="40000"/>
            <a:tint val="50000"/>
          </a:schemeClr>
        </a:solidFill>
        <a:prstDash val="dash"/>
      </a:ln>
    </cs:spPr>
  </cs:seriesLine>
  <cs:title>
    <cs:lnRef idx="0"/>
    <cs:fillRef idx="0"/>
    <cs:effectRef idx="0"/>
    <cs:fontRef idx="minor">
      <a:schemeClr val="lt1"/>
    </cs:fontRef>
    <cs:defRPr sz="1995" b="1" kern="1200" cap="all" spc="100" normalizeH="0" baseline="0"/>
  </cs:title>
  <cs:trendline>
    <cs:lnRef idx="0"/>
    <cs:fillRef idx="0"/>
    <cs:effectRef idx="0"/>
    <cs:fontRef idx="minor">
      <a:schemeClr val="dk1"/>
    </cs:fontRef>
    <cs:spPr>
      <a:ln w="28575" cap="rnd">
        <a:solidFill>
          <a:schemeClr val="lt1">
            <a:alpha val="50000"/>
          </a:schemeClr>
        </a:solidFill>
        <a:round/>
      </a:ln>
    </cs:spPr>
  </cs:trendline>
  <cs:trendlineLabel>
    <cs:lnRef idx="0"/>
    <cs:fillRef idx="0"/>
    <cs:effectRef idx="0"/>
    <cs:fontRef idx="minor">
      <a:schemeClr val="lt1"/>
    </cs:fontRef>
    <cs:defRPr sz="1197" kern="1200"/>
  </cs:trendlineLabel>
  <cs:upBar>
    <cs:lnRef idx="0">
      <cs:styleClr val="0"/>
    </cs:lnRef>
    <cs:fillRef idx="0"/>
    <cs:effectRef idx="0"/>
    <cs:fontRef idx="minor">
      <a:schemeClr val="dk1"/>
    </cs:fontRef>
    <cs:spPr>
      <a:solidFill>
        <a:schemeClr val="lt1">
          <a:lumMod val="95000"/>
        </a:schemeClr>
      </a:solidFill>
      <a:ln w="9525">
        <a:solidFill>
          <a:schemeClr val="phClr">
            <a:lumMod val="60000"/>
            <a:lumOff val="40000"/>
          </a:schemeClr>
        </a:solidFill>
      </a:ln>
    </cs:spPr>
  </cs:upBar>
  <cs:valueAxis>
    <cs:lnRef idx="0"/>
    <cs:fillRef idx="0"/>
    <cs:effectRef idx="0"/>
    <cs:fontRef idx="minor">
      <a:schemeClr val="lt1"/>
    </cs:fontRef>
    <cs:defRPr sz="1197"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304">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1" name="Google Shape;5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 name="Google Shape;56;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 name="Google Shape;63;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13335" y="601724"/>
            <a:ext cx="6477805" cy="1906073"/>
          </a:xfrm>
        </p:spPr>
        <p:txBody>
          <a:bodyPr bIns="0" anchor="b">
            <a:normAutofit/>
          </a:bodyPr>
          <a:lstStyle>
            <a:lvl1pPr algn="l">
              <a:defRPr sz="4950"/>
            </a:lvl1pPr>
          </a:lstStyle>
          <a:p>
            <a:r>
              <a:rPr lang="en-US"/>
              <a:t>Click to edit Master title style</a:t>
            </a:r>
            <a:endParaRPr lang="en-US" dirty="0"/>
          </a:p>
        </p:txBody>
      </p:sp>
      <p:sp>
        <p:nvSpPr>
          <p:cNvPr id="3" name="Subtitle 2"/>
          <p:cNvSpPr>
            <a:spLocks noGrp="1"/>
          </p:cNvSpPr>
          <p:nvPr>
            <p:ph type="subTitle" idx="1"/>
          </p:nvPr>
        </p:nvSpPr>
        <p:spPr>
          <a:xfrm>
            <a:off x="1813335" y="2648403"/>
            <a:ext cx="6477804" cy="733216"/>
          </a:xfrm>
        </p:spPr>
        <p:txBody>
          <a:bodyPr tIns="91440" bIns="91440">
            <a:normAutofit/>
          </a:bodyPr>
          <a:lstStyle>
            <a:lvl1pPr marL="0" indent="0" algn="l">
              <a:buNone/>
              <a:defRPr sz="1350" b="0" cap="all" baseline="0">
                <a:solidFill>
                  <a:schemeClr val="tx1"/>
                </a:solidFill>
              </a:defRPr>
            </a:lvl1pPr>
            <a:lvl2pPr marL="342900" indent="0" algn="ctr">
              <a:buNone/>
              <a:defRPr sz="135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7/2/2026</a:t>
            </a:fld>
            <a:endParaRPr lang="en-US" dirty="0"/>
          </a:p>
        </p:txBody>
      </p:sp>
      <p:sp>
        <p:nvSpPr>
          <p:cNvPr id="5" name="Footer Placeholder 4"/>
          <p:cNvSpPr>
            <a:spLocks noGrp="1"/>
          </p:cNvSpPr>
          <p:nvPr>
            <p:ph type="ftr" sz="quarter" idx="11"/>
          </p:nvPr>
        </p:nvSpPr>
        <p:spPr>
          <a:xfrm>
            <a:off x="1812376" y="246981"/>
            <a:ext cx="3730436" cy="231901"/>
          </a:xfrm>
        </p:spPr>
        <p:txBody>
          <a:bodyPr/>
          <a:lstStyle/>
          <a:p>
            <a:endParaRPr lang="en-US" dirty="0"/>
          </a:p>
        </p:txBody>
      </p:sp>
      <p:sp>
        <p:nvSpPr>
          <p:cNvPr id="6" name="Slide Number Placeholder 5"/>
          <p:cNvSpPr>
            <a:spLocks noGrp="1"/>
          </p:cNvSpPr>
          <p:nvPr>
            <p:ph type="sldNum" sz="quarter" idx="12"/>
          </p:nvPr>
        </p:nvSpPr>
        <p:spPr>
          <a:xfrm>
            <a:off x="1078249" y="599230"/>
            <a:ext cx="608264" cy="377684"/>
          </a:xfrm>
        </p:spPr>
        <p:txBody>
          <a:bodyPr/>
          <a:lstStyle/>
          <a:p>
            <a:pPr marL="0" lvl="0" indent="0" algn="r" rtl="0">
              <a:spcBef>
                <a:spcPts val="0"/>
              </a:spcBef>
              <a:spcAft>
                <a:spcPts val="0"/>
              </a:spcAft>
              <a:buNone/>
            </a:pPr>
            <a:fld id="{00000000-1234-1234-1234-123412341234}" type="slidenum">
              <a:rPr lang="en-GB" smtClean="0"/>
              <a:t>‹#›</a:t>
            </a:fld>
            <a:endParaRPr lang="en-GB"/>
          </a:p>
        </p:txBody>
      </p:sp>
      <p:cxnSp>
        <p:nvCxnSpPr>
          <p:cNvPr id="15" name="Straight Connector 14"/>
          <p:cNvCxnSpPr/>
          <p:nvPr/>
        </p:nvCxnSpPr>
        <p:spPr>
          <a:xfrm>
            <a:off x="1813335" y="2646407"/>
            <a:ext cx="647780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5794251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cxnSp>
        <p:nvCxnSpPr>
          <p:cNvPr id="33" name="Straight Connector 32"/>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2441982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90679" y="1317097"/>
            <a:ext cx="6482366" cy="1415963"/>
          </a:xfrm>
        </p:spPr>
        <p:txBody>
          <a:bodyPr anchor="b">
            <a:normAutofit/>
          </a:bodyPr>
          <a:lstStyle>
            <a:lvl1pPr algn="l">
              <a:defRPr sz="2700"/>
            </a:lvl1pPr>
          </a:lstStyle>
          <a:p>
            <a:r>
              <a:rPr lang="en-US"/>
              <a:t>Click to edit Master title style</a:t>
            </a:r>
            <a:endParaRPr lang="en-US" dirty="0"/>
          </a:p>
        </p:txBody>
      </p:sp>
      <p:sp>
        <p:nvSpPr>
          <p:cNvPr id="3" name="Text Placeholder 2"/>
          <p:cNvSpPr>
            <a:spLocks noGrp="1"/>
          </p:cNvSpPr>
          <p:nvPr>
            <p:ph type="body" idx="1"/>
          </p:nvPr>
        </p:nvSpPr>
        <p:spPr>
          <a:xfrm>
            <a:off x="1090679" y="2854647"/>
            <a:ext cx="6472835" cy="759697"/>
          </a:xfrm>
        </p:spPr>
        <p:txBody>
          <a:bodyPr tIns="91440">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7/2/2026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cxnSp>
        <p:nvCxnSpPr>
          <p:cNvPr id="15" name="Straight Connector 14"/>
          <p:cNvCxnSpPr/>
          <p:nvPr/>
        </p:nvCxnSpPr>
        <p:spPr>
          <a:xfrm>
            <a:off x="1090679" y="2853739"/>
            <a:ext cx="647283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0107059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86913" y="603667"/>
            <a:ext cx="7204226" cy="79447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85498" y="1508159"/>
            <a:ext cx="3483864" cy="25864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10328" y="1513007"/>
            <a:ext cx="3483864" cy="25811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7/2/2026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cxnSp>
        <p:nvCxnSpPr>
          <p:cNvPr id="35" name="Straight Connector 34"/>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2380991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85394" y="603123"/>
            <a:ext cx="7205746" cy="79223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85393" y="1514662"/>
            <a:ext cx="3483864" cy="601457"/>
          </a:xfrm>
        </p:spPr>
        <p:txBody>
          <a:bodyPr anchor="b">
            <a:normAutofit/>
          </a:bodyPr>
          <a:lstStyle>
            <a:lvl1pPr marL="0" indent="0">
              <a:lnSpc>
                <a:spcPct val="100000"/>
              </a:lnSpc>
              <a:buNone/>
              <a:defRPr sz="165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085393" y="2118202"/>
            <a:ext cx="3483864" cy="19833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09272" y="1517253"/>
            <a:ext cx="3483864" cy="601678"/>
          </a:xfrm>
        </p:spPr>
        <p:txBody>
          <a:bodyPr anchor="b">
            <a:normAutofit/>
          </a:bodyPr>
          <a:lstStyle>
            <a:lvl1pPr marL="0" indent="0">
              <a:lnSpc>
                <a:spcPct val="100000"/>
              </a:lnSpc>
              <a:buNone/>
              <a:defRPr sz="165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809272" y="2116119"/>
            <a:ext cx="3483864" cy="19780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7/2/2026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cxnSp>
        <p:nvCxnSpPr>
          <p:cNvPr id="29" name="Straight Connector 28"/>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7423314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7/2/2026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cxnSp>
        <p:nvCxnSpPr>
          <p:cNvPr id="25" name="Straight Connector 24"/>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80574711"/>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7/2/2026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2886972036"/>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3504" y="599230"/>
            <a:ext cx="2454824" cy="1685338"/>
          </a:xfrm>
        </p:spPr>
        <p:txBody>
          <a:bodyPr anchor="b">
            <a:normAutofit/>
          </a:bodyPr>
          <a:lstStyle>
            <a:lvl1pPr algn="l">
              <a:defRPr sz="1800"/>
            </a:lvl1pPr>
          </a:lstStyle>
          <a:p>
            <a:r>
              <a:rPr lang="en-US"/>
              <a:t>Click to edit Master title style</a:t>
            </a:r>
            <a:endParaRPr lang="en-US" dirty="0"/>
          </a:p>
        </p:txBody>
      </p:sp>
      <p:sp>
        <p:nvSpPr>
          <p:cNvPr id="3" name="Content Placeholder 2"/>
          <p:cNvSpPr>
            <a:spLocks noGrp="1"/>
          </p:cNvSpPr>
          <p:nvPr>
            <p:ph idx="1"/>
          </p:nvPr>
        </p:nvSpPr>
        <p:spPr>
          <a:xfrm>
            <a:off x="3782785" y="599230"/>
            <a:ext cx="4509353" cy="349412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83504" y="2404119"/>
            <a:ext cx="2456260" cy="1686136"/>
          </a:xfrm>
        </p:spPr>
        <p:txBody>
          <a:bodyPr/>
          <a:lstStyle>
            <a:lvl1pPr marL="0" indent="0" algn="l">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cxnSp>
        <p:nvCxnSpPr>
          <p:cNvPr id="17" name="Straight Connector 16"/>
          <p:cNvCxnSpPr/>
          <p:nvPr/>
        </p:nvCxnSpPr>
        <p:spPr>
          <a:xfrm>
            <a:off x="1086210" y="2404118"/>
            <a:ext cx="2452118"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8259719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5608041" y="361628"/>
            <a:ext cx="3055900" cy="3861826"/>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088405" y="847135"/>
            <a:ext cx="4149246" cy="1372938"/>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3292" y="841907"/>
            <a:ext cx="2093378" cy="2899745"/>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087747" y="2359494"/>
            <a:ext cx="4143303" cy="1502807"/>
          </a:xfrm>
        </p:spPr>
        <p:txBody>
          <a:bodyPr>
            <a:normAutofit/>
          </a:bodyPr>
          <a:lstStyle>
            <a:lvl1pPr marL="0" indent="0" algn="l">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1085537" y="4102393"/>
            <a:ext cx="4145513" cy="240092"/>
          </a:xfrm>
        </p:spPr>
        <p:txBody>
          <a:bodyPr/>
          <a:lstStyle>
            <a:lvl1pPr algn="l">
              <a:defRPr/>
            </a:lvl1pPr>
          </a:lstStyle>
          <a:p>
            <a:fld id="{48A87A34-81AB-432B-8DAE-1953F412C126}" type="datetimeFigureOut">
              <a:rPr lang="en-US" dirty="0"/>
              <a:pPr/>
              <a:t>7/2/2026</a:t>
            </a:fld>
            <a:endParaRPr lang="en-US" dirty="0"/>
          </a:p>
        </p:txBody>
      </p:sp>
      <p:sp>
        <p:nvSpPr>
          <p:cNvPr id="6" name="Footer Placeholder 5"/>
          <p:cNvSpPr>
            <a:spLocks noGrp="1"/>
          </p:cNvSpPr>
          <p:nvPr>
            <p:ph type="ftr" sz="quarter" idx="11"/>
          </p:nvPr>
        </p:nvSpPr>
        <p:spPr>
          <a:xfrm>
            <a:off x="1085537" y="238981"/>
            <a:ext cx="4155753" cy="240698"/>
          </a:xfrm>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cxnSp>
        <p:nvCxnSpPr>
          <p:cNvPr id="31" name="Straight Connector 30"/>
          <p:cNvCxnSpPr/>
          <p:nvPr/>
        </p:nvCxnSpPr>
        <p:spPr>
          <a:xfrm>
            <a:off x="1085537" y="2357704"/>
            <a:ext cx="414551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7031935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cxnSp>
        <p:nvCxnSpPr>
          <p:cNvPr id="26" name="Straight Connector 25"/>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9480326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79333" y="599230"/>
            <a:ext cx="1211807" cy="3494917"/>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83504" y="599230"/>
            <a:ext cx="5871623" cy="34949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cxnSp>
        <p:nvCxnSpPr>
          <p:cNvPr id="15" name="Straight Connector 14"/>
          <p:cNvCxnSpPr/>
          <p:nvPr/>
        </p:nvCxnSpPr>
        <p:spPr>
          <a:xfrm>
            <a:off x="7079333" y="599230"/>
            <a:ext cx="0" cy="3494917"/>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1191573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3"/>
        <p:cNvGrpSpPr/>
        <p:nvPr/>
      </p:nvGrpSpPr>
      <p:grpSpPr>
        <a:xfrm>
          <a:off x="0" y="0"/>
          <a:ext cx="0" cy="0"/>
          <a:chOff x="0" y="0"/>
          <a:chExt cx="0" cy="0"/>
        </a:xfrm>
      </p:grpSpPr>
      <p:sp>
        <p:nvSpPr>
          <p:cNvPr id="34" name="Google Shape;34;p27"/>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4800"/>
              <a:buFont typeface="Arial"/>
              <a:buChar char="●"/>
              <a:defRPr sz="4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4800"/>
              <a:buFont typeface="Arial"/>
              <a:buChar char="○"/>
              <a:defRPr sz="4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4800"/>
              <a:buFont typeface="Arial"/>
              <a:buChar char="■"/>
              <a:defRPr sz="4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4800"/>
              <a:buFont typeface="Arial"/>
              <a:buChar char="●"/>
              <a:defRPr sz="4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4800"/>
              <a:buFont typeface="Arial"/>
              <a:buChar char="○"/>
              <a:defRPr sz="4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4800"/>
              <a:buFont typeface="Arial"/>
              <a:buChar char="■"/>
              <a:defRPr sz="4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4800"/>
              <a:buFont typeface="Arial"/>
              <a:buChar char="●"/>
              <a:defRPr sz="4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4800"/>
              <a:buFont typeface="Arial"/>
              <a:buChar char="○"/>
              <a:defRPr sz="4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4800"/>
              <a:buFont typeface="Arial"/>
              <a:buChar char="■"/>
              <a:defRPr sz="4800" b="0" i="0" u="none" strike="noStrike" cap="none">
                <a:solidFill>
                  <a:srgbClr val="000000"/>
                </a:solidFill>
                <a:latin typeface="Arial"/>
                <a:ea typeface="Arial"/>
                <a:cs typeface="Arial"/>
                <a:sym typeface="Arial"/>
              </a:defRPr>
            </a:lvl9pPr>
          </a:lstStyle>
          <a:p>
            <a:endParaRPr/>
          </a:p>
        </p:txBody>
      </p:sp>
      <p:sp>
        <p:nvSpPr>
          <p:cNvPr id="35" name="Google Shape;35;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27155462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19" name="Google Shape;19;p2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ctr" anchorCtr="0">
            <a:noAutofit/>
          </a:bodyPr>
          <a:lstStyle>
            <a:lvl1pPr marL="457200" marR="0" lvl="0" indent="-317500" algn="l" rtl="0">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1pPr>
            <a:lvl2pPr marL="914400" marR="0" lvl="1" indent="-317500" algn="l" rtl="0">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2pPr>
            <a:lvl3pPr marL="1371600" marR="0" lvl="2" indent="-317500" algn="l" rtl="0">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3pPr>
            <a:lvl4pPr marL="1828800" marR="0" lvl="3" indent="-317500" algn="l" rtl="0">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4pPr>
            <a:lvl5pPr marL="2286000" marR="0" lvl="4" indent="-317500" algn="l" rtl="0">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5pPr>
            <a:lvl6pPr marL="2743200" marR="0" lvl="5" indent="-317500" algn="l" rtl="0">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6pPr>
            <a:lvl7pPr marL="3200400" marR="0" lvl="6" indent="-317500" algn="l" rtl="0">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7pPr>
            <a:lvl8pPr marL="3657600" marR="0" lvl="7" indent="-317500" algn="l" rtl="0">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8pPr>
            <a:lvl9pPr marL="4114800" marR="0" lvl="8" indent="-317500" algn="l" rtl="0">
              <a:lnSpc>
                <a:spcPct val="100000"/>
              </a:lnSpc>
              <a:spcBef>
                <a:spcPts val="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20" name="Google Shape;20;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2759537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1514607"/>
            <a:ext cx="9144000" cy="3079456"/>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5">
            <a:extLst>
              <a:ext uri="{28A0092B-C50C-407E-A947-70E740481C1C}">
                <a14:useLocalDpi xmlns:a14="http://schemas.microsoft.com/office/drawing/2010/main" val="0"/>
              </a:ext>
            </a:extLst>
          </a:blip>
          <a:srcRect t="1538" b="-1538"/>
          <a:stretch/>
        </p:blipFill>
        <p:spPr bwMode="black">
          <a:xfrm>
            <a:off x="0" y="4594860"/>
            <a:ext cx="9144000" cy="557213"/>
          </a:xfrm>
          <a:prstGeom prst="rect">
            <a:avLst/>
          </a:prstGeom>
        </p:spPr>
      </p:pic>
      <p:sp>
        <p:nvSpPr>
          <p:cNvPr id="2" name="Title Placeholder 1"/>
          <p:cNvSpPr>
            <a:spLocks noGrp="1"/>
          </p:cNvSpPr>
          <p:nvPr>
            <p:ph type="title"/>
          </p:nvPr>
        </p:nvSpPr>
        <p:spPr>
          <a:xfrm>
            <a:off x="1088685" y="603390"/>
            <a:ext cx="7202456" cy="786926"/>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088685" y="1511799"/>
            <a:ext cx="7202456" cy="25879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65604" y="247778"/>
            <a:ext cx="2625536" cy="231901"/>
          </a:xfrm>
          <a:prstGeom prst="rect">
            <a:avLst/>
          </a:prstGeom>
        </p:spPr>
        <p:txBody>
          <a:bodyPr vert="horz" lIns="91440" tIns="45720" rIns="91440" bIns="45720" rtlCol="0" anchor="ctr"/>
          <a:lstStyle>
            <a:lvl1pPr algn="r">
              <a:defRPr sz="750">
                <a:solidFill>
                  <a:schemeClr val="tx1">
                    <a:tint val="75000"/>
                  </a:schemeClr>
                </a:solidFill>
              </a:defRPr>
            </a:lvl1pPr>
          </a:lstStyle>
          <a:p>
            <a:fld id="{48A87A34-81AB-432B-8DAE-1953F412C126}" type="datetimeFigureOut">
              <a:rPr lang="en-US" dirty="0"/>
              <a:pPr/>
              <a:t>7/2/2026</a:t>
            </a:fld>
            <a:endParaRPr lang="en-US" dirty="0"/>
          </a:p>
        </p:txBody>
      </p:sp>
      <p:sp>
        <p:nvSpPr>
          <p:cNvPr id="5" name="Footer Placeholder 4"/>
          <p:cNvSpPr>
            <a:spLocks noGrp="1"/>
          </p:cNvSpPr>
          <p:nvPr>
            <p:ph type="ftr" sz="quarter" idx="3"/>
          </p:nvPr>
        </p:nvSpPr>
        <p:spPr>
          <a:xfrm>
            <a:off x="1088684" y="246981"/>
            <a:ext cx="4454127" cy="231901"/>
          </a:xfrm>
          <a:prstGeom prst="rect">
            <a:avLst/>
          </a:prstGeom>
        </p:spPr>
        <p:txBody>
          <a:bodyPr vert="horz" lIns="91440" tIns="45720" rIns="91440" bIns="45720" rtlCol="0" anchor="ctr"/>
          <a:lstStyle>
            <a:lvl1pPr algn="l">
              <a:defRPr sz="7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360046" y="599230"/>
            <a:ext cx="608264" cy="377684"/>
          </a:xfrm>
          <a:prstGeom prst="rect">
            <a:avLst/>
          </a:prstGeom>
        </p:spPr>
        <p:txBody>
          <a:bodyPr vert="horz" lIns="91440" tIns="45720" rIns="91440" bIns="45720" rtlCol="0" anchor="t"/>
          <a:lstStyle>
            <a:lvl1pPr algn="r">
              <a:defRPr sz="2100">
                <a:solidFill>
                  <a:schemeClr val="accent1"/>
                </a:solidFill>
              </a:defRPr>
            </a:lvl1pPr>
          </a:lstStyle>
          <a:p>
            <a:pPr marL="0" lvl="0" indent="0" algn="r" rtl="0">
              <a:spcBef>
                <a:spcPts val="0"/>
              </a:spcBef>
              <a:spcAft>
                <a:spcPts val="0"/>
              </a:spcAft>
              <a:buNone/>
            </a:pPr>
            <a:fld id="{00000000-1234-1234-1234-123412341234}" type="slidenum">
              <a:rPr lang="en-GB" smtClean="0"/>
              <a:t>‹#›</a:t>
            </a:fld>
            <a:endParaRPr lang="en-GB"/>
          </a:p>
        </p:txBody>
      </p:sp>
      <p:cxnSp>
        <p:nvCxnSpPr>
          <p:cNvPr id="10" name="Straight Connector 9"/>
          <p:cNvCxnSpPr/>
          <p:nvPr/>
        </p:nvCxnSpPr>
        <p:spPr>
          <a:xfrm>
            <a:off x="0" y="4596310"/>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92816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sldNum="0" hdr="0" ftr="0" dt="0"/>
  <p:txStyles>
    <p:titleStyle>
      <a:lvl1pPr algn="l" defTabSz="685800" rtl="0" eaLnBrk="1" latinLnBrk="0" hangingPunct="1">
        <a:lnSpc>
          <a:spcPct val="90000"/>
        </a:lnSpc>
        <a:spcBef>
          <a:spcPct val="0"/>
        </a:spcBef>
        <a:buNone/>
        <a:defRPr sz="2400" b="0" i="0" kern="1200" cap="all">
          <a:solidFill>
            <a:schemeClr val="tx1"/>
          </a:solidFill>
          <a:effectLst/>
          <a:latin typeface="+mj-lt"/>
          <a:ea typeface="+mj-ea"/>
          <a:cs typeface="+mj-cs"/>
        </a:defRPr>
      </a:lvl1pPr>
    </p:titleStyle>
    <p:bodyStyle>
      <a:lvl1pPr marL="171450" indent="-171450" algn="l" defTabSz="685800" rtl="0" eaLnBrk="1" latinLnBrk="0" hangingPunct="1">
        <a:lnSpc>
          <a:spcPct val="120000"/>
        </a:lnSpc>
        <a:spcBef>
          <a:spcPts val="750"/>
        </a:spcBef>
        <a:buClr>
          <a:schemeClr val="accent1"/>
        </a:buClr>
        <a:buSzPct val="100000"/>
        <a:buFont typeface="Arial" panose="020B0604020202020204" pitchFamily="34" charset="0"/>
        <a:buChar char="•"/>
        <a:defRPr sz="1500" kern="1200">
          <a:solidFill>
            <a:schemeClr val="tx1"/>
          </a:solidFill>
          <a:effectLst/>
          <a:latin typeface="+mn-lt"/>
          <a:ea typeface="+mn-ea"/>
          <a:cs typeface="+mn-cs"/>
        </a:defRPr>
      </a:lvl1pPr>
      <a:lvl2pPr marL="5143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350" kern="1200" cap="none" baseline="0">
          <a:solidFill>
            <a:schemeClr val="tx1"/>
          </a:solidFill>
          <a:effectLst/>
          <a:latin typeface="+mn-lt"/>
          <a:ea typeface="+mn-ea"/>
          <a:cs typeface="+mn-cs"/>
        </a:defRPr>
      </a:lvl2pPr>
      <a:lvl3pPr marL="8572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3pPr>
      <a:lvl4pPr marL="12001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050" kern="1200" cap="none" baseline="0">
          <a:solidFill>
            <a:schemeClr val="tx1"/>
          </a:solidFill>
          <a:effectLst/>
          <a:latin typeface="+mn-lt"/>
          <a:ea typeface="+mn-ea"/>
          <a:cs typeface="+mn-cs"/>
        </a:defRPr>
      </a:lvl4pPr>
      <a:lvl5pPr marL="15430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5pPr>
      <a:lvl6pPr marL="18859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6pPr>
      <a:lvl7pPr marL="22288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7pPr>
      <a:lvl8pPr marL="25717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baseline="0">
          <a:solidFill>
            <a:schemeClr val="tx1"/>
          </a:solidFill>
          <a:effectLst/>
          <a:latin typeface="+mn-lt"/>
          <a:ea typeface="+mn-ea"/>
          <a:cs typeface="+mn-cs"/>
        </a:defRPr>
      </a:lvl8pPr>
      <a:lvl9pPr marL="29146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2" name="Title 1">
            <a:extLst>
              <a:ext uri="{FF2B5EF4-FFF2-40B4-BE49-F238E27FC236}">
                <a16:creationId xmlns:a16="http://schemas.microsoft.com/office/drawing/2014/main" id="{D419984F-351F-6F83-1097-624F4A06A9E6}"/>
              </a:ext>
            </a:extLst>
          </p:cNvPr>
          <p:cNvSpPr>
            <a:spLocks noGrp="1"/>
          </p:cNvSpPr>
          <p:nvPr>
            <p:ph type="ctrTitle"/>
          </p:nvPr>
        </p:nvSpPr>
        <p:spPr/>
        <p:txBody>
          <a:bodyPr>
            <a:normAutofit fontScale="90000"/>
          </a:bodyPr>
          <a:lstStyle/>
          <a:p>
            <a:pPr lvl="0">
              <a:buNone/>
            </a:pPr>
            <a:r>
              <a:rPr lang="en-US" sz="4000" b="1" dirty="0">
                <a:latin typeface="Times New Roman" panose="02020603050405020304" pitchFamily="18" charset="0"/>
                <a:ea typeface="Lato"/>
                <a:cs typeface="Times New Roman" panose="02020603050405020304" pitchFamily="18" charset="0"/>
                <a:sym typeface="Lato"/>
              </a:rPr>
              <a:t>Spreadsheet Project:</a:t>
            </a:r>
            <a:br>
              <a:rPr lang="en-US" sz="4000" b="1" dirty="0">
                <a:latin typeface="Times New Roman" panose="02020603050405020304" pitchFamily="18" charset="0"/>
                <a:ea typeface="Lato"/>
                <a:cs typeface="Times New Roman" panose="02020603050405020304" pitchFamily="18" charset="0"/>
                <a:sym typeface="Lato"/>
              </a:rPr>
            </a:br>
            <a:r>
              <a:rPr lang="en-US" sz="4000" b="1" dirty="0">
                <a:solidFill>
                  <a:schemeClr val="dk1"/>
                </a:solidFill>
                <a:latin typeface="Times New Roman" panose="02020603050405020304" pitchFamily="18" charset="0"/>
                <a:ea typeface="Lato"/>
                <a:cs typeface="Times New Roman" panose="02020603050405020304" pitchFamily="18" charset="0"/>
                <a:sym typeface="Lato"/>
              </a:rPr>
              <a:t>IT Ticket Analysis</a:t>
            </a:r>
            <a:br>
              <a:rPr lang="en-US" sz="4000" b="1" dirty="0">
                <a:latin typeface="Times New Roman" panose="02020603050405020304" pitchFamily="18" charset="0"/>
                <a:ea typeface="Lato"/>
                <a:cs typeface="Times New Roman" panose="02020603050405020304" pitchFamily="18" charset="0"/>
                <a:sym typeface="Lato"/>
              </a:rPr>
            </a:br>
            <a:endParaRPr lang="en-IN" sz="40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3BDE4677-5E98-CB80-EDB1-8EC3CD55793F}"/>
              </a:ext>
            </a:extLst>
          </p:cNvPr>
          <p:cNvSpPr>
            <a:spLocks noGrp="1"/>
          </p:cNvSpPr>
          <p:nvPr>
            <p:ph type="subTitle" idx="1"/>
          </p:nvPr>
        </p:nvSpPr>
        <p:spPr/>
        <p:txBody>
          <a:bodyPr>
            <a:normAutofit fontScale="70000" lnSpcReduction="20000"/>
          </a:bodyPr>
          <a:lstStyle/>
          <a:p>
            <a:r>
              <a:rPr lang="en-IN" sz="2000" dirty="0">
                <a:latin typeface="Times New Roman" panose="02020603050405020304" pitchFamily="18" charset="0"/>
                <a:cs typeface="Times New Roman" panose="02020603050405020304" pitchFamily="18" charset="0"/>
              </a:rPr>
              <a:t>Ujwal Kumar</a:t>
            </a:r>
          </a:p>
          <a:p>
            <a:r>
              <a:rPr lang="en-IN" sz="2000" dirty="0">
                <a:latin typeface="Times New Roman" panose="02020603050405020304" pitchFamily="18" charset="0"/>
                <a:cs typeface="Times New Roman" panose="02020603050405020304" pitchFamily="18" charset="0"/>
              </a:rPr>
              <a:t>02/07/2026</a:t>
            </a:r>
          </a:p>
          <a:p>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p3"/>
          <p:cNvSpPr txBox="1"/>
          <p:nvPr/>
        </p:nvSpPr>
        <p:spPr>
          <a:xfrm>
            <a:off x="558525" y="1852525"/>
            <a:ext cx="4920600" cy="2130300"/>
          </a:xfrm>
          <a:prstGeom prst="rect">
            <a:avLst/>
          </a:prstGeom>
          <a:noFill/>
          <a:ln>
            <a:noFill/>
          </a:ln>
        </p:spPr>
        <p:txBody>
          <a:bodyPr spcFirstLastPara="1" wrap="square" lIns="91425" tIns="91425" rIns="91425" bIns="91425" anchor="t" anchorCtr="0">
            <a:spAutoFit/>
          </a:bodyPr>
          <a:lstStyle/>
          <a:p>
            <a:pPr marL="457200" marR="0" lvl="0" indent="-330200" algn="l" rtl="0">
              <a:lnSpc>
                <a:spcPct val="115000"/>
              </a:lnSpc>
              <a:spcBef>
                <a:spcPts val="0"/>
              </a:spcBef>
              <a:spcAft>
                <a:spcPts val="0"/>
              </a:spcAft>
              <a:buClr>
                <a:srgbClr val="000000"/>
              </a:buClr>
              <a:buSzPts val="1600"/>
              <a:buFont typeface="Lato"/>
              <a:buChar char="❏"/>
            </a:pPr>
            <a:r>
              <a:rPr lang="en-GB" sz="1600" b="0" i="0" u="none" strike="noStrike" cap="none" dirty="0">
                <a:solidFill>
                  <a:srgbClr val="000000"/>
                </a:solidFill>
                <a:latin typeface="Lato"/>
                <a:ea typeface="Lato"/>
                <a:cs typeface="Lato"/>
                <a:sym typeface="Lato"/>
              </a:rPr>
              <a:t>Problem Statement</a:t>
            </a:r>
            <a:endParaRPr sz="1600" b="0" i="0" u="none" strike="noStrike" cap="none" dirty="0">
              <a:solidFill>
                <a:srgbClr val="000000"/>
              </a:solidFill>
              <a:latin typeface="Lato"/>
              <a:ea typeface="Lato"/>
              <a:cs typeface="Lato"/>
              <a:sym typeface="Lato"/>
            </a:endParaRPr>
          </a:p>
          <a:p>
            <a:pPr marL="457200" marR="0" lvl="0" indent="0" algn="l" rtl="0">
              <a:lnSpc>
                <a:spcPct val="115000"/>
              </a:lnSpc>
              <a:spcBef>
                <a:spcPts val="0"/>
              </a:spcBef>
              <a:spcAft>
                <a:spcPts val="0"/>
              </a:spcAft>
              <a:buClr>
                <a:srgbClr val="000000"/>
              </a:buClr>
              <a:buSzPts val="1800"/>
              <a:buFont typeface="Arial"/>
              <a:buNone/>
            </a:pPr>
            <a:endParaRPr sz="1600" b="0" i="0" u="none" strike="noStrike" cap="none" dirty="0">
              <a:solidFill>
                <a:srgbClr val="000000"/>
              </a:solidFill>
              <a:latin typeface="Lato"/>
              <a:ea typeface="Lato"/>
              <a:cs typeface="Lato"/>
              <a:sym typeface="Lato"/>
            </a:endParaRPr>
          </a:p>
          <a:p>
            <a:pPr marL="457200" marR="0" lvl="0" indent="-330200" algn="l" rtl="0">
              <a:lnSpc>
                <a:spcPct val="115000"/>
              </a:lnSpc>
              <a:spcBef>
                <a:spcPts val="0"/>
              </a:spcBef>
              <a:spcAft>
                <a:spcPts val="0"/>
              </a:spcAft>
              <a:buClr>
                <a:srgbClr val="000000"/>
              </a:buClr>
              <a:buSzPts val="1600"/>
              <a:buFont typeface="Lato"/>
              <a:buChar char="❏"/>
            </a:pPr>
            <a:r>
              <a:rPr lang="en-GB" sz="1600" b="0" i="0" u="none" strike="noStrike" cap="none" dirty="0">
                <a:solidFill>
                  <a:srgbClr val="000000"/>
                </a:solidFill>
                <a:latin typeface="Lato"/>
                <a:ea typeface="Lato"/>
                <a:cs typeface="Lato"/>
                <a:sym typeface="Lato"/>
              </a:rPr>
              <a:t>Data Description</a:t>
            </a:r>
            <a:endParaRPr sz="1600" b="0" i="0" u="none" strike="noStrike" cap="none" dirty="0">
              <a:solidFill>
                <a:srgbClr val="000000"/>
              </a:solidFill>
              <a:latin typeface="Lato"/>
              <a:ea typeface="Lato"/>
              <a:cs typeface="Lato"/>
              <a:sym typeface="Lato"/>
            </a:endParaRPr>
          </a:p>
          <a:p>
            <a:pPr marL="457200" marR="0" lvl="0" indent="0" algn="l" rtl="0">
              <a:lnSpc>
                <a:spcPct val="115000"/>
              </a:lnSpc>
              <a:spcBef>
                <a:spcPts val="0"/>
              </a:spcBef>
              <a:spcAft>
                <a:spcPts val="0"/>
              </a:spcAft>
              <a:buClr>
                <a:srgbClr val="000000"/>
              </a:buClr>
              <a:buSzPts val="1800"/>
              <a:buFont typeface="Arial"/>
              <a:buNone/>
            </a:pPr>
            <a:endParaRPr sz="1600" b="0" i="0" u="none" strike="noStrike" cap="none" dirty="0">
              <a:solidFill>
                <a:srgbClr val="000000"/>
              </a:solidFill>
              <a:latin typeface="Lato"/>
              <a:ea typeface="Lato"/>
              <a:cs typeface="Lato"/>
              <a:sym typeface="Lato"/>
            </a:endParaRPr>
          </a:p>
          <a:p>
            <a:pPr marL="457200" marR="0" lvl="0" indent="-330200" algn="l" rtl="0">
              <a:lnSpc>
                <a:spcPct val="115000"/>
              </a:lnSpc>
              <a:spcBef>
                <a:spcPts val="0"/>
              </a:spcBef>
              <a:spcAft>
                <a:spcPts val="0"/>
              </a:spcAft>
              <a:buClr>
                <a:srgbClr val="000000"/>
              </a:buClr>
              <a:buSzPts val="1600"/>
              <a:buFont typeface="Lato"/>
              <a:buChar char="❏"/>
            </a:pPr>
            <a:r>
              <a:rPr lang="en-GB" sz="1600" b="0" i="0" u="none" strike="noStrike" cap="none" dirty="0">
                <a:solidFill>
                  <a:srgbClr val="000000"/>
                </a:solidFill>
                <a:latin typeface="Lato"/>
                <a:ea typeface="Lato"/>
                <a:cs typeface="Lato"/>
                <a:sym typeface="Lato"/>
              </a:rPr>
              <a:t>Objective Key Metrics and Visualizations</a:t>
            </a:r>
            <a:endParaRPr sz="1600" b="0" i="0" u="none" strike="noStrike" cap="none" dirty="0">
              <a:solidFill>
                <a:srgbClr val="000000"/>
              </a:solidFill>
              <a:latin typeface="Lato"/>
              <a:ea typeface="Lato"/>
              <a:cs typeface="Lato"/>
              <a:sym typeface="Lato"/>
            </a:endParaRPr>
          </a:p>
          <a:p>
            <a:pPr marL="457200" marR="0" lvl="0" indent="0" algn="l" rtl="0">
              <a:lnSpc>
                <a:spcPct val="115000"/>
              </a:lnSpc>
              <a:spcBef>
                <a:spcPts val="0"/>
              </a:spcBef>
              <a:spcAft>
                <a:spcPts val="0"/>
              </a:spcAft>
              <a:buClr>
                <a:srgbClr val="000000"/>
              </a:buClr>
              <a:buSzPts val="1800"/>
              <a:buFont typeface="Arial"/>
              <a:buNone/>
            </a:pPr>
            <a:endParaRPr sz="1600" b="0" i="0" u="none" strike="noStrike" cap="none" dirty="0">
              <a:solidFill>
                <a:srgbClr val="000000"/>
              </a:solidFill>
              <a:latin typeface="Lato"/>
              <a:ea typeface="Lato"/>
              <a:cs typeface="Lato"/>
              <a:sym typeface="Lato"/>
            </a:endParaRPr>
          </a:p>
          <a:p>
            <a:pPr marL="457200" marR="0" lvl="0" indent="-330200" algn="l" rtl="0">
              <a:lnSpc>
                <a:spcPct val="115000"/>
              </a:lnSpc>
              <a:spcBef>
                <a:spcPts val="0"/>
              </a:spcBef>
              <a:spcAft>
                <a:spcPts val="0"/>
              </a:spcAft>
              <a:buClr>
                <a:srgbClr val="000000"/>
              </a:buClr>
              <a:buSzPts val="1600"/>
              <a:buFont typeface="Lato"/>
              <a:buChar char="❏"/>
            </a:pPr>
            <a:r>
              <a:rPr lang="en-GB" sz="1600" b="0" i="0" u="none" strike="noStrike" cap="none" dirty="0">
                <a:solidFill>
                  <a:srgbClr val="000000"/>
                </a:solidFill>
                <a:latin typeface="Lato"/>
                <a:ea typeface="Lato"/>
                <a:cs typeface="Lato"/>
                <a:sym typeface="Lato"/>
              </a:rPr>
              <a:t>Subjective Question for Insights</a:t>
            </a:r>
            <a:endParaRPr sz="1600" b="0" i="0" u="none" strike="noStrike" cap="none" dirty="0">
              <a:solidFill>
                <a:srgbClr val="000000"/>
              </a:solidFill>
              <a:latin typeface="Lato"/>
              <a:ea typeface="Lato"/>
              <a:cs typeface="Lato"/>
              <a:sym typeface="Lato"/>
            </a:endParaRPr>
          </a:p>
        </p:txBody>
      </p:sp>
      <p:sp>
        <p:nvSpPr>
          <p:cNvPr id="59" name="Google Shape;59;p3"/>
          <p:cNvSpPr txBox="1"/>
          <p:nvPr/>
        </p:nvSpPr>
        <p:spPr>
          <a:xfrm>
            <a:off x="558525" y="1132225"/>
            <a:ext cx="4145400" cy="486000"/>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0000"/>
              </a:buClr>
              <a:buSzPts val="2400"/>
              <a:buFont typeface="Arial"/>
              <a:buNone/>
            </a:pPr>
            <a:r>
              <a:rPr lang="en-GB" sz="2200" b="0" i="0" u="none" strike="noStrike" cap="none">
                <a:solidFill>
                  <a:srgbClr val="000000"/>
                </a:solidFill>
                <a:latin typeface="Lato"/>
                <a:ea typeface="Lato"/>
                <a:cs typeface="Lato"/>
                <a:sym typeface="Lato"/>
              </a:rPr>
              <a:t>Agenda</a:t>
            </a:r>
            <a:endParaRPr sz="2200" b="0" i="0" u="none" strike="noStrike" cap="none">
              <a:solidFill>
                <a:srgbClr val="000000"/>
              </a:solidFill>
              <a:latin typeface="Lato"/>
              <a:ea typeface="Lato"/>
              <a:cs typeface="Lato"/>
              <a:sym typeface="Lato"/>
            </a:endParaRPr>
          </a:p>
        </p:txBody>
      </p:sp>
      <p:pic>
        <p:nvPicPr>
          <p:cNvPr id="60" name="Google Shape;60;p3"/>
          <p:cNvPicPr preferRelativeResize="0"/>
          <p:nvPr/>
        </p:nvPicPr>
        <p:blipFill rotWithShape="1">
          <a:blip r:embed="rId3">
            <a:alphaModFix/>
          </a:blip>
          <a:srcRect/>
          <a:stretch/>
        </p:blipFill>
        <p:spPr>
          <a:xfrm>
            <a:off x="5686787" y="1083637"/>
            <a:ext cx="2698775" cy="29762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pic>
        <p:nvPicPr>
          <p:cNvPr id="65" name="Google Shape;65;p4"/>
          <p:cNvPicPr preferRelativeResize="0"/>
          <p:nvPr/>
        </p:nvPicPr>
        <p:blipFill>
          <a:blip r:embed="rId3">
            <a:alphaModFix/>
          </a:blip>
          <a:stretch>
            <a:fillRect/>
          </a:stretch>
        </p:blipFill>
        <p:spPr>
          <a:xfrm>
            <a:off x="957263" y="1884856"/>
            <a:ext cx="7103123" cy="2679999"/>
          </a:xfrm>
          <a:prstGeom prst="rect">
            <a:avLst/>
          </a:prstGeom>
          <a:noFill/>
          <a:ln>
            <a:noFill/>
          </a:ln>
        </p:spPr>
      </p:pic>
      <p:sp>
        <p:nvSpPr>
          <p:cNvPr id="66" name="Google Shape;66;p4"/>
          <p:cNvSpPr txBox="1"/>
          <p:nvPr/>
        </p:nvSpPr>
        <p:spPr>
          <a:xfrm>
            <a:off x="644549" y="84393"/>
            <a:ext cx="7854900" cy="1800463"/>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800"/>
              <a:buFont typeface="Arial"/>
              <a:buNone/>
            </a:pPr>
            <a:r>
              <a:rPr lang="en-GB" sz="1400" b="1" i="0" u="none" strike="noStrike" cap="none" dirty="0">
                <a:solidFill>
                  <a:srgbClr val="000000"/>
                </a:solidFill>
                <a:latin typeface="Arial" panose="020B0604020202020204" pitchFamily="34" charset="0"/>
                <a:ea typeface="Lato"/>
                <a:cs typeface="Arial" panose="020B0604020202020204" pitchFamily="34" charset="0"/>
                <a:sym typeface="Lato"/>
              </a:rPr>
              <a:t>Problem Statement</a:t>
            </a:r>
            <a:endParaRPr sz="1400" b="0" i="0" u="none" strike="noStrike" cap="none" dirty="0">
              <a:solidFill>
                <a:srgbClr val="000000"/>
              </a:solidFill>
              <a:latin typeface="Arial" panose="020B0604020202020204" pitchFamily="34" charset="0"/>
              <a:ea typeface="Lato"/>
              <a:cs typeface="Arial" panose="020B0604020202020204" pitchFamily="34" charset="0"/>
              <a:sym typeface="Lato"/>
            </a:endParaRPr>
          </a:p>
          <a:p>
            <a:pPr marL="0" marR="0" lvl="0" indent="0" algn="l" rtl="0">
              <a:lnSpc>
                <a:spcPct val="100000"/>
              </a:lnSpc>
              <a:spcBef>
                <a:spcPts val="0"/>
              </a:spcBef>
              <a:spcAft>
                <a:spcPts val="0"/>
              </a:spcAft>
              <a:buClr>
                <a:srgbClr val="000000"/>
              </a:buClr>
              <a:buSzPts val="1800"/>
              <a:buFont typeface="Arial"/>
              <a:buNone/>
            </a:pPr>
            <a:r>
              <a:rPr lang="en-GB" sz="1400" dirty="0">
                <a:latin typeface="Arial" panose="020B0604020202020204" pitchFamily="34" charset="0"/>
                <a:ea typeface="Lato"/>
                <a:cs typeface="Arial" panose="020B0604020202020204" pitchFamily="34" charset="0"/>
                <a:sym typeface="Lato"/>
              </a:rPr>
              <a:t>The objective is to </a:t>
            </a:r>
            <a:r>
              <a:rPr lang="en-GB" sz="1400" dirty="0" err="1">
                <a:latin typeface="Arial" panose="020B0604020202020204" pitchFamily="34" charset="0"/>
                <a:ea typeface="Lato"/>
                <a:cs typeface="Arial" panose="020B0604020202020204" pitchFamily="34" charset="0"/>
                <a:sym typeface="Lato"/>
              </a:rPr>
              <a:t>analyze</a:t>
            </a:r>
            <a:r>
              <a:rPr lang="en-GB" sz="1400" dirty="0">
                <a:latin typeface="Arial" panose="020B0604020202020204" pitchFamily="34" charset="0"/>
                <a:ea typeface="Lato"/>
                <a:cs typeface="Arial" panose="020B0604020202020204" pitchFamily="34" charset="0"/>
                <a:sym typeface="Lato"/>
              </a:rPr>
              <a:t> the IT support ticket management system to understand the performance of IT agents, the efficiency of ticket resolution, and the satisfaction levels of employees. The analysis aims to identify high and low performers among IT agents, assess the overall effectiveness of the team, and pinpoint areas for improvement in the ticket resolution process. The ultimate goal is to make informed staffing decisions, including hiring, firing, and training, to enhance overall service quality and team performance.</a:t>
            </a:r>
            <a:endParaRPr sz="1400" b="0" i="0" u="none" strike="noStrike" cap="none" dirty="0">
              <a:solidFill>
                <a:srgbClr val="000000"/>
              </a:solidFill>
              <a:latin typeface="Arial" panose="020B0604020202020204" pitchFamily="34" charset="0"/>
              <a:ea typeface="Lato"/>
              <a:cs typeface="Arial" panose="020B0604020202020204" pitchFamily="34" charset="0"/>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511EB-474C-7090-0AD3-8C8953F2F4E8}"/>
              </a:ext>
            </a:extLst>
          </p:cNvPr>
          <p:cNvSpPr>
            <a:spLocks noGrp="1"/>
          </p:cNvSpPr>
          <p:nvPr>
            <p:ph type="title"/>
          </p:nvPr>
        </p:nvSpPr>
        <p:spPr>
          <a:xfrm>
            <a:off x="547400" y="985931"/>
            <a:ext cx="6367800" cy="4090800"/>
          </a:xfrm>
        </p:spPr>
        <p:txBody>
          <a:bodyPr/>
          <a:lstStyle/>
          <a:p>
            <a:pPr>
              <a:buNone/>
            </a:pPr>
            <a:r>
              <a:rPr lang="en-US" sz="1400" b="1" dirty="0"/>
              <a:t>1. Evaluate IT Agent Performance</a:t>
            </a:r>
            <a:br>
              <a:rPr lang="en-US" sz="1400" b="1" dirty="0"/>
            </a:br>
            <a:br>
              <a:rPr lang="en-US" sz="1400" dirty="0"/>
            </a:br>
            <a:r>
              <a:rPr lang="en-US" sz="1400" dirty="0"/>
              <a:t>Measure productivity by analyzing tickets handled per agent.</a:t>
            </a:r>
            <a:br>
              <a:rPr lang="en-US" sz="1400" dirty="0"/>
            </a:br>
            <a:br>
              <a:rPr lang="en-US" sz="1400" dirty="0"/>
            </a:br>
            <a:r>
              <a:rPr lang="en-US" sz="1400" dirty="0"/>
              <a:t>Identify high performers and low performers.</a:t>
            </a:r>
            <a:br>
              <a:rPr lang="en-US" sz="1400" dirty="0"/>
            </a:br>
            <a:br>
              <a:rPr lang="en-US" sz="1400" dirty="0"/>
            </a:br>
            <a:r>
              <a:rPr lang="en-US" sz="1400" b="1" dirty="0"/>
              <a:t>2</a:t>
            </a:r>
            <a:r>
              <a:rPr lang="en-US" sz="1400" dirty="0"/>
              <a:t>. </a:t>
            </a:r>
            <a:r>
              <a:rPr lang="en-US" sz="1400" b="1" dirty="0"/>
              <a:t>Assess Ticket Resolution Efficiency</a:t>
            </a:r>
            <a:br>
              <a:rPr lang="en-US" sz="1400" dirty="0"/>
            </a:br>
            <a:br>
              <a:rPr lang="en-US" sz="1400" dirty="0"/>
            </a:br>
            <a:r>
              <a:rPr lang="en-US" sz="1400" dirty="0"/>
              <a:t>Track average and daily resolution times.</a:t>
            </a:r>
            <a:br>
              <a:rPr lang="en-US" sz="1400" dirty="0"/>
            </a:br>
            <a:br>
              <a:rPr lang="en-US" sz="1400" dirty="0"/>
            </a:br>
            <a:r>
              <a:rPr lang="en-US" sz="1400" dirty="0"/>
              <a:t>Compare resolution times across agents and ticket categories.</a:t>
            </a:r>
            <a:br>
              <a:rPr lang="en-US" sz="1400" dirty="0"/>
            </a:br>
            <a:br>
              <a:rPr lang="en-US" sz="1400" dirty="0"/>
            </a:br>
            <a:r>
              <a:rPr lang="en-US" sz="1400" b="1" dirty="0"/>
              <a:t>3</a:t>
            </a:r>
            <a:r>
              <a:rPr lang="en-US" sz="1400" dirty="0"/>
              <a:t>. </a:t>
            </a:r>
            <a:r>
              <a:rPr lang="en-US" sz="1400" b="1" dirty="0"/>
              <a:t>Analyze Employee Satisfaction</a:t>
            </a:r>
            <a:br>
              <a:rPr lang="en-US" sz="1400" b="1" dirty="0"/>
            </a:br>
            <a:br>
              <a:rPr lang="en-US" sz="1400" dirty="0"/>
            </a:br>
            <a:r>
              <a:rPr lang="en-US" sz="1400" dirty="0"/>
              <a:t>Monitor satisfaction levels linked to ticket resolution.</a:t>
            </a:r>
            <a:br>
              <a:rPr lang="en-US" sz="1400" dirty="0"/>
            </a:br>
            <a:br>
              <a:rPr lang="en-US" sz="1400" dirty="0"/>
            </a:br>
            <a:r>
              <a:rPr lang="en-US" sz="1400" dirty="0"/>
              <a:t>Correlate satisfaction with resolution speed and issue severity.</a:t>
            </a:r>
            <a:br>
              <a:rPr lang="en-US" sz="1400" dirty="0"/>
            </a:br>
            <a:br>
              <a:rPr lang="en-US" sz="1400" dirty="0"/>
            </a:br>
            <a:br>
              <a:rPr lang="en-US" sz="1400" dirty="0"/>
            </a:br>
            <a:br>
              <a:rPr lang="en-US" sz="1400" dirty="0"/>
            </a:br>
            <a:endParaRPr lang="en-IN" sz="1400" dirty="0"/>
          </a:p>
        </p:txBody>
      </p:sp>
      <p:sp>
        <p:nvSpPr>
          <p:cNvPr id="3" name="TextBox 2">
            <a:extLst>
              <a:ext uri="{FF2B5EF4-FFF2-40B4-BE49-F238E27FC236}">
                <a16:creationId xmlns:a16="http://schemas.microsoft.com/office/drawing/2014/main" id="{2F085851-17E4-3540-D1E7-8BC2C56517B5}"/>
              </a:ext>
            </a:extLst>
          </p:cNvPr>
          <p:cNvSpPr txBox="1"/>
          <p:nvPr/>
        </p:nvSpPr>
        <p:spPr>
          <a:xfrm>
            <a:off x="547400" y="207169"/>
            <a:ext cx="6215063" cy="400110"/>
          </a:xfrm>
          <a:prstGeom prst="rect">
            <a:avLst/>
          </a:prstGeom>
          <a:noFill/>
          <a:ln>
            <a:noFill/>
          </a:ln>
        </p:spPr>
        <p:txBody>
          <a:bodyPr wrap="square" rtlCol="0">
            <a:spAutoFit/>
          </a:bodyPr>
          <a:lstStyle/>
          <a:p>
            <a:r>
              <a:rPr lang="en-IN" sz="2000" b="1" dirty="0">
                <a:latin typeface="Times New Roman" panose="02020603050405020304" pitchFamily="18" charset="0"/>
                <a:cs typeface="Times New Roman" panose="02020603050405020304" pitchFamily="18" charset="0"/>
              </a:rPr>
              <a:t>Objectives</a:t>
            </a:r>
          </a:p>
        </p:txBody>
      </p:sp>
    </p:spTree>
    <p:extLst>
      <p:ext uri="{BB962C8B-B14F-4D97-AF65-F5344CB8AC3E}">
        <p14:creationId xmlns:p14="http://schemas.microsoft.com/office/powerpoint/2010/main" val="1912879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6D1720D-4AF0-83B9-4F99-AA684F4AB18D}"/>
              </a:ext>
            </a:extLst>
          </p:cNvPr>
          <p:cNvSpPr>
            <a:spLocks noGrp="1"/>
          </p:cNvSpPr>
          <p:nvPr>
            <p:ph type="title"/>
          </p:nvPr>
        </p:nvSpPr>
        <p:spPr/>
        <p:txBody>
          <a:bodyPr/>
          <a:lstStyle/>
          <a:p>
            <a:pPr>
              <a:buNone/>
            </a:pPr>
            <a:r>
              <a:rPr lang="en-US" sz="1400" b="1" dirty="0"/>
              <a:t>4. Identify Training Needs</a:t>
            </a:r>
            <a:br>
              <a:rPr lang="en-US" sz="1400" dirty="0"/>
            </a:br>
            <a:r>
              <a:rPr lang="en-US" sz="1400" dirty="0"/>
              <a:t>Detect agents with recurring performance gaps.</a:t>
            </a:r>
            <a:br>
              <a:rPr lang="en-US" sz="1400" dirty="0"/>
            </a:br>
            <a:br>
              <a:rPr lang="en-US" sz="1400" dirty="0"/>
            </a:br>
            <a:r>
              <a:rPr lang="en-US" sz="1400" dirty="0"/>
              <a:t>Flag agents who require additional support or mentoring.</a:t>
            </a:r>
            <a:br>
              <a:rPr lang="en-US" sz="1400" dirty="0"/>
            </a:br>
            <a:br>
              <a:rPr lang="en-US" sz="1400" dirty="0"/>
            </a:br>
            <a:r>
              <a:rPr lang="en-US" sz="1400" b="1" dirty="0"/>
              <a:t>5</a:t>
            </a:r>
            <a:r>
              <a:rPr lang="en-US" sz="1400" dirty="0"/>
              <a:t>. </a:t>
            </a:r>
            <a:r>
              <a:rPr lang="en-US" sz="1400" b="1" dirty="0"/>
              <a:t>Support Staffing Decisions</a:t>
            </a:r>
            <a:br>
              <a:rPr lang="en-US" sz="1400" dirty="0"/>
            </a:br>
            <a:br>
              <a:rPr lang="en-US" sz="1400" dirty="0"/>
            </a:br>
            <a:r>
              <a:rPr lang="en-US" sz="1400" dirty="0"/>
              <a:t>Provide data-driven insights for hiring additional agents.</a:t>
            </a:r>
            <a:br>
              <a:rPr lang="en-US" sz="1400" dirty="0"/>
            </a:br>
            <a:br>
              <a:rPr lang="en-US" sz="1400" dirty="0"/>
            </a:br>
            <a:r>
              <a:rPr lang="en-US" sz="1400" dirty="0"/>
              <a:t>Recommend firing or retraining underperforming agents.</a:t>
            </a:r>
            <a:br>
              <a:rPr lang="en-US" sz="1400" dirty="0"/>
            </a:br>
            <a:br>
              <a:rPr lang="en-US" sz="1400" dirty="0"/>
            </a:br>
            <a:r>
              <a:rPr lang="en-US" sz="1400" b="1" dirty="0"/>
              <a:t>6</a:t>
            </a:r>
            <a:r>
              <a:rPr lang="en-US" sz="1400" dirty="0"/>
              <a:t>. </a:t>
            </a:r>
            <a:r>
              <a:rPr lang="en-US" sz="1400" b="1" dirty="0"/>
              <a:t>Understand Ticket Trends &amp; Workload</a:t>
            </a:r>
            <a:br>
              <a:rPr lang="en-US" sz="1400" dirty="0"/>
            </a:br>
            <a:br>
              <a:rPr lang="en-US" sz="1400" dirty="0"/>
            </a:br>
            <a:r>
              <a:rPr lang="en-US" sz="1400" dirty="0"/>
              <a:t>Analyze ticket volumes over time to detect peak and stable periods.</a:t>
            </a:r>
            <a:br>
              <a:rPr lang="en-US" sz="1400" dirty="0"/>
            </a:br>
            <a:br>
              <a:rPr lang="en-US" sz="1400" dirty="0"/>
            </a:br>
            <a:r>
              <a:rPr lang="en-US" sz="1400" dirty="0"/>
              <a:t>Study distribution of issue types and categories (Login, System, Software, etc.).</a:t>
            </a:r>
            <a:endParaRPr lang="en-IN" sz="1400" dirty="0"/>
          </a:p>
        </p:txBody>
      </p:sp>
    </p:spTree>
    <p:extLst>
      <p:ext uri="{BB962C8B-B14F-4D97-AF65-F5344CB8AC3E}">
        <p14:creationId xmlns:p14="http://schemas.microsoft.com/office/powerpoint/2010/main" val="21444103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5"/>
          <p:cNvSpPr txBox="1"/>
          <p:nvPr/>
        </p:nvSpPr>
        <p:spPr>
          <a:xfrm>
            <a:off x="521850" y="69781"/>
            <a:ext cx="8100300" cy="3696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1"/>
              </a:buClr>
              <a:buSzPts val="1100"/>
              <a:buFont typeface="Arial"/>
              <a:buNone/>
            </a:pPr>
            <a:r>
              <a:rPr lang="en-GB" sz="1400" b="1" u="sng" dirty="0">
                <a:solidFill>
                  <a:schemeClr val="dk1"/>
                </a:solidFill>
                <a:latin typeface="Arial" panose="020B0604020202020204" pitchFamily="34" charset="0"/>
                <a:ea typeface="Lato"/>
                <a:cs typeface="Arial" panose="020B0604020202020204" pitchFamily="34" charset="0"/>
                <a:sym typeface="Lato"/>
              </a:rPr>
              <a:t>Attributes:</a:t>
            </a:r>
            <a:endParaRPr sz="1400" b="1" i="0" u="sng" strike="noStrike" cap="none" dirty="0">
              <a:solidFill>
                <a:schemeClr val="dk1"/>
              </a:solidFill>
              <a:latin typeface="Arial" panose="020B0604020202020204" pitchFamily="34" charset="0"/>
              <a:ea typeface="Lato"/>
              <a:cs typeface="Arial" panose="020B0604020202020204" pitchFamily="34" charset="0"/>
              <a:sym typeface="Lato"/>
            </a:endParaRPr>
          </a:p>
          <a:p>
            <a:pPr marL="0" marR="0" lvl="0" indent="0" algn="l" rtl="0">
              <a:lnSpc>
                <a:spcPct val="100000"/>
              </a:lnSpc>
              <a:spcBef>
                <a:spcPts val="0"/>
              </a:spcBef>
              <a:spcAft>
                <a:spcPts val="0"/>
              </a:spcAft>
              <a:buClr>
                <a:srgbClr val="000000"/>
              </a:buClr>
              <a:buSzPts val="1400"/>
              <a:buFont typeface="Arial"/>
              <a:buNone/>
            </a:pPr>
            <a:endParaRPr sz="1200" b="1" i="0" u="sng" strike="noStrike" cap="none" dirty="0">
              <a:solidFill>
                <a:srgbClr val="000000"/>
              </a:solidFill>
              <a:latin typeface="Arial" panose="020B0604020202020204" pitchFamily="34" charset="0"/>
              <a:ea typeface="Arial"/>
              <a:cs typeface="Arial" panose="020B0604020202020204" pitchFamily="34" charset="0"/>
              <a:sym typeface="Arial"/>
            </a:endParaRPr>
          </a:p>
        </p:txBody>
      </p:sp>
      <p:sp>
        <p:nvSpPr>
          <p:cNvPr id="72" name="Google Shape;72;p5"/>
          <p:cNvSpPr txBox="1"/>
          <p:nvPr/>
        </p:nvSpPr>
        <p:spPr>
          <a:xfrm>
            <a:off x="4752356" y="90330"/>
            <a:ext cx="3791100" cy="3835200"/>
          </a:xfrm>
          <a:prstGeom prst="rect">
            <a:avLst/>
          </a:prstGeom>
          <a:noFill/>
          <a:ln>
            <a:noFill/>
          </a:ln>
        </p:spPr>
        <p:txBody>
          <a:bodyPr spcFirstLastPara="1" wrap="square" lIns="91425" tIns="91425" rIns="91425" bIns="91425" anchor="t" anchorCtr="0">
            <a:noAutofit/>
          </a:bodyPr>
          <a:lstStyle/>
          <a:p>
            <a:pPr marL="457200" lvl="0" indent="-311150" algn="l" rtl="0">
              <a:lnSpc>
                <a:spcPct val="100000"/>
              </a:lnSpc>
              <a:spcBef>
                <a:spcPts val="0"/>
              </a:spcBef>
              <a:spcAft>
                <a:spcPts val="0"/>
              </a:spcAft>
              <a:buClr>
                <a:schemeClr val="dk1"/>
              </a:buClr>
              <a:buSzPts val="1300"/>
              <a:buChar char="●"/>
            </a:pPr>
            <a:r>
              <a:rPr lang="en-GB" sz="1400" b="1" dirty="0">
                <a:solidFill>
                  <a:schemeClr val="dk1"/>
                </a:solidFill>
                <a:latin typeface="Arial" panose="020B0604020202020204" pitchFamily="34" charset="0"/>
                <a:ea typeface="Lato"/>
                <a:cs typeface="Arial" panose="020B0604020202020204" pitchFamily="34" charset="0"/>
                <a:sym typeface="Lato"/>
              </a:rPr>
              <a:t>Resolution Time (Days): </a:t>
            </a:r>
            <a:r>
              <a:rPr lang="en-GB" sz="1400" dirty="0">
                <a:solidFill>
                  <a:schemeClr val="dk1"/>
                </a:solidFill>
                <a:latin typeface="Arial" panose="020B0604020202020204" pitchFamily="34" charset="0"/>
                <a:ea typeface="Lato"/>
                <a:cs typeface="Arial" panose="020B0604020202020204" pitchFamily="34" charset="0"/>
                <a:sym typeface="Lato"/>
              </a:rPr>
              <a:t>Time taken to resolve the ticket.</a:t>
            </a:r>
            <a:endParaRPr sz="1400" dirty="0">
              <a:solidFill>
                <a:schemeClr val="dk1"/>
              </a:solidFill>
              <a:latin typeface="Arial" panose="020B0604020202020204" pitchFamily="34" charset="0"/>
              <a:ea typeface="Lato"/>
              <a:cs typeface="Arial" panose="020B0604020202020204" pitchFamily="34" charset="0"/>
              <a:sym typeface="Lato"/>
            </a:endParaRPr>
          </a:p>
          <a:p>
            <a:pPr marL="457200" lvl="0" indent="-311150" algn="l" rtl="0">
              <a:lnSpc>
                <a:spcPct val="100000"/>
              </a:lnSpc>
              <a:spcBef>
                <a:spcPts val="1000"/>
              </a:spcBef>
              <a:spcAft>
                <a:spcPts val="0"/>
              </a:spcAft>
              <a:buClr>
                <a:schemeClr val="dk1"/>
              </a:buClr>
              <a:buSzPts val="1300"/>
              <a:buChar char="●"/>
            </a:pPr>
            <a:r>
              <a:rPr lang="en-GB" sz="1400" b="1" dirty="0">
                <a:solidFill>
                  <a:schemeClr val="dk1"/>
                </a:solidFill>
                <a:latin typeface="Arial" panose="020B0604020202020204" pitchFamily="34" charset="0"/>
                <a:ea typeface="Lato"/>
                <a:cs typeface="Arial" panose="020B0604020202020204" pitchFamily="34" charset="0"/>
                <a:sym typeface="Lato"/>
              </a:rPr>
              <a:t>Satisfaction Rate: </a:t>
            </a:r>
            <a:r>
              <a:rPr lang="en-GB" sz="1400" dirty="0">
                <a:solidFill>
                  <a:schemeClr val="dk1"/>
                </a:solidFill>
                <a:latin typeface="Arial" panose="020B0604020202020204" pitchFamily="34" charset="0"/>
                <a:ea typeface="Lato"/>
                <a:cs typeface="Arial" panose="020B0604020202020204" pitchFamily="34" charset="0"/>
                <a:sym typeface="Lato"/>
              </a:rPr>
              <a:t>Satisfaction rate provided by the employee (1-5 scale).</a:t>
            </a:r>
            <a:endParaRPr sz="1400" dirty="0">
              <a:solidFill>
                <a:schemeClr val="dk1"/>
              </a:solidFill>
              <a:latin typeface="Arial" panose="020B0604020202020204" pitchFamily="34" charset="0"/>
              <a:ea typeface="Lato"/>
              <a:cs typeface="Arial" panose="020B0604020202020204" pitchFamily="34" charset="0"/>
              <a:sym typeface="Lato"/>
            </a:endParaRPr>
          </a:p>
          <a:p>
            <a:pPr marL="457200" lvl="0" indent="0" algn="l" rtl="0">
              <a:lnSpc>
                <a:spcPct val="100000"/>
              </a:lnSpc>
              <a:spcBef>
                <a:spcPts val="1000"/>
              </a:spcBef>
              <a:spcAft>
                <a:spcPts val="0"/>
              </a:spcAft>
              <a:buNone/>
            </a:pPr>
            <a:endParaRPr sz="1400" dirty="0">
              <a:solidFill>
                <a:schemeClr val="dk1"/>
              </a:solidFill>
              <a:latin typeface="Arial" panose="020B0604020202020204" pitchFamily="34" charset="0"/>
              <a:ea typeface="Lato"/>
              <a:cs typeface="Arial" panose="020B0604020202020204" pitchFamily="34" charset="0"/>
              <a:sym typeface="Lato"/>
            </a:endParaRPr>
          </a:p>
          <a:p>
            <a:pPr marL="457200" lvl="0" indent="-311150" algn="l" rtl="0">
              <a:lnSpc>
                <a:spcPct val="100000"/>
              </a:lnSpc>
              <a:spcBef>
                <a:spcPts val="1000"/>
              </a:spcBef>
              <a:spcAft>
                <a:spcPts val="0"/>
              </a:spcAft>
              <a:buClr>
                <a:schemeClr val="dk1"/>
              </a:buClr>
              <a:buSzPts val="1300"/>
              <a:buFont typeface="Lato"/>
              <a:buChar char="➢"/>
            </a:pPr>
            <a:r>
              <a:rPr lang="en-GB" sz="1400" b="1" dirty="0">
                <a:solidFill>
                  <a:schemeClr val="dk1"/>
                </a:solidFill>
                <a:latin typeface="Arial" panose="020B0604020202020204" pitchFamily="34" charset="0"/>
                <a:ea typeface="Lato"/>
                <a:cs typeface="Arial" panose="020B0604020202020204" pitchFamily="34" charset="0"/>
                <a:sym typeface="Lato"/>
              </a:rPr>
              <a:t>IT Agents: </a:t>
            </a:r>
            <a:r>
              <a:rPr lang="en-GB" sz="1400" dirty="0">
                <a:solidFill>
                  <a:schemeClr val="dk1"/>
                </a:solidFill>
                <a:latin typeface="Arial" panose="020B0604020202020204" pitchFamily="34" charset="0"/>
                <a:ea typeface="Lato"/>
                <a:cs typeface="Arial" panose="020B0604020202020204" pitchFamily="34" charset="0"/>
                <a:sym typeface="Lato"/>
              </a:rPr>
              <a:t>Contains information about IT agents.</a:t>
            </a:r>
            <a:endParaRPr sz="1400" b="1" dirty="0">
              <a:solidFill>
                <a:schemeClr val="dk1"/>
              </a:solidFill>
              <a:latin typeface="Arial" panose="020B0604020202020204" pitchFamily="34" charset="0"/>
              <a:ea typeface="Lato"/>
              <a:cs typeface="Arial" panose="020B0604020202020204" pitchFamily="34" charset="0"/>
              <a:sym typeface="Lato"/>
            </a:endParaRPr>
          </a:p>
          <a:p>
            <a:pPr marL="457200" lvl="0" indent="-311150" algn="l" rtl="0">
              <a:lnSpc>
                <a:spcPct val="150000"/>
              </a:lnSpc>
              <a:spcBef>
                <a:spcPts val="0"/>
              </a:spcBef>
              <a:spcAft>
                <a:spcPts val="0"/>
              </a:spcAft>
              <a:buClr>
                <a:schemeClr val="dk1"/>
              </a:buClr>
              <a:buSzPts val="1300"/>
              <a:buChar char="●"/>
            </a:pPr>
            <a:r>
              <a:rPr lang="en-GB" sz="1400" b="1" dirty="0">
                <a:solidFill>
                  <a:schemeClr val="dk1"/>
                </a:solidFill>
                <a:latin typeface="Arial" panose="020B0604020202020204" pitchFamily="34" charset="0"/>
                <a:ea typeface="Lato"/>
                <a:cs typeface="Arial" panose="020B0604020202020204" pitchFamily="34" charset="0"/>
                <a:sym typeface="Lato"/>
              </a:rPr>
              <a:t>Agent ID: </a:t>
            </a:r>
            <a:r>
              <a:rPr lang="en-GB" sz="1400" dirty="0">
                <a:solidFill>
                  <a:schemeClr val="dk1"/>
                </a:solidFill>
                <a:latin typeface="Arial" panose="020B0604020202020204" pitchFamily="34" charset="0"/>
                <a:ea typeface="Lato"/>
                <a:cs typeface="Arial" panose="020B0604020202020204" pitchFamily="34" charset="0"/>
                <a:sym typeface="Lato"/>
              </a:rPr>
              <a:t>Unique identifier for the agent.</a:t>
            </a:r>
            <a:endParaRPr sz="1400" dirty="0">
              <a:solidFill>
                <a:schemeClr val="dk1"/>
              </a:solidFill>
              <a:latin typeface="Arial" panose="020B0604020202020204" pitchFamily="34" charset="0"/>
              <a:ea typeface="Lato"/>
              <a:cs typeface="Arial" panose="020B0604020202020204" pitchFamily="34" charset="0"/>
              <a:sym typeface="Lato"/>
            </a:endParaRPr>
          </a:p>
          <a:p>
            <a:pPr marL="457200" lvl="0" indent="-311150" algn="l" rtl="0">
              <a:lnSpc>
                <a:spcPct val="150000"/>
              </a:lnSpc>
              <a:spcBef>
                <a:spcPts val="0"/>
              </a:spcBef>
              <a:spcAft>
                <a:spcPts val="0"/>
              </a:spcAft>
              <a:buClr>
                <a:schemeClr val="dk1"/>
              </a:buClr>
              <a:buSzPts val="1300"/>
              <a:buChar char="●"/>
            </a:pPr>
            <a:r>
              <a:rPr lang="en-GB" sz="1400" b="1" dirty="0">
                <a:solidFill>
                  <a:schemeClr val="dk1"/>
                </a:solidFill>
                <a:latin typeface="Arial" panose="020B0604020202020204" pitchFamily="34" charset="0"/>
                <a:ea typeface="Lato"/>
                <a:cs typeface="Arial" panose="020B0604020202020204" pitchFamily="34" charset="0"/>
                <a:sym typeface="Lato"/>
              </a:rPr>
              <a:t>Full Name: </a:t>
            </a:r>
            <a:r>
              <a:rPr lang="en-GB" sz="1400" dirty="0">
                <a:solidFill>
                  <a:schemeClr val="dk1"/>
                </a:solidFill>
                <a:latin typeface="Arial" panose="020B0604020202020204" pitchFamily="34" charset="0"/>
                <a:ea typeface="Lato"/>
                <a:cs typeface="Arial" panose="020B0604020202020204" pitchFamily="34" charset="0"/>
                <a:sym typeface="Lato"/>
              </a:rPr>
              <a:t>Full name of the agent.</a:t>
            </a:r>
            <a:endParaRPr sz="1400" dirty="0">
              <a:solidFill>
                <a:schemeClr val="dk1"/>
              </a:solidFill>
              <a:latin typeface="Arial" panose="020B0604020202020204" pitchFamily="34" charset="0"/>
              <a:ea typeface="Lato"/>
              <a:cs typeface="Arial" panose="020B0604020202020204" pitchFamily="34" charset="0"/>
              <a:sym typeface="Lato"/>
            </a:endParaRPr>
          </a:p>
          <a:p>
            <a:pPr marL="457200" lvl="0" indent="-311150" algn="l" rtl="0">
              <a:lnSpc>
                <a:spcPct val="150000"/>
              </a:lnSpc>
              <a:spcBef>
                <a:spcPts val="0"/>
              </a:spcBef>
              <a:spcAft>
                <a:spcPts val="0"/>
              </a:spcAft>
              <a:buClr>
                <a:schemeClr val="dk1"/>
              </a:buClr>
              <a:buSzPts val="1300"/>
              <a:buChar char="●"/>
            </a:pPr>
            <a:r>
              <a:rPr lang="en-GB" sz="1400" b="1" dirty="0">
                <a:solidFill>
                  <a:schemeClr val="dk1"/>
                </a:solidFill>
                <a:latin typeface="Arial" panose="020B0604020202020204" pitchFamily="34" charset="0"/>
                <a:ea typeface="Lato"/>
                <a:cs typeface="Arial" panose="020B0604020202020204" pitchFamily="34" charset="0"/>
                <a:sym typeface="Lato"/>
              </a:rPr>
              <a:t>Email: </a:t>
            </a:r>
            <a:r>
              <a:rPr lang="en-GB" sz="1400" dirty="0">
                <a:solidFill>
                  <a:schemeClr val="dk1"/>
                </a:solidFill>
                <a:latin typeface="Arial" panose="020B0604020202020204" pitchFamily="34" charset="0"/>
                <a:ea typeface="Lato"/>
                <a:cs typeface="Arial" panose="020B0604020202020204" pitchFamily="34" charset="0"/>
                <a:sym typeface="Lato"/>
              </a:rPr>
              <a:t>Email address of the agent.</a:t>
            </a:r>
            <a:endParaRPr sz="1400" dirty="0">
              <a:solidFill>
                <a:schemeClr val="dk1"/>
              </a:solidFill>
              <a:latin typeface="Arial" panose="020B0604020202020204" pitchFamily="34" charset="0"/>
              <a:ea typeface="Lato"/>
              <a:cs typeface="Arial" panose="020B0604020202020204" pitchFamily="34" charset="0"/>
              <a:sym typeface="Lato"/>
            </a:endParaRPr>
          </a:p>
          <a:p>
            <a:pPr marL="457200" lvl="0" indent="-311150" algn="l" rtl="0">
              <a:lnSpc>
                <a:spcPct val="150000"/>
              </a:lnSpc>
              <a:spcBef>
                <a:spcPts val="0"/>
              </a:spcBef>
              <a:spcAft>
                <a:spcPts val="0"/>
              </a:spcAft>
              <a:buClr>
                <a:schemeClr val="dk1"/>
              </a:buClr>
              <a:buSzPts val="1300"/>
              <a:buChar char="●"/>
            </a:pPr>
            <a:r>
              <a:rPr lang="en-GB" sz="1400" b="1" dirty="0">
                <a:solidFill>
                  <a:schemeClr val="dk1"/>
                </a:solidFill>
                <a:latin typeface="Arial" panose="020B0604020202020204" pitchFamily="34" charset="0"/>
                <a:ea typeface="Lato"/>
                <a:cs typeface="Arial" panose="020B0604020202020204" pitchFamily="34" charset="0"/>
                <a:sym typeface="Lato"/>
              </a:rPr>
              <a:t>Year of Birth: </a:t>
            </a:r>
            <a:r>
              <a:rPr lang="en-GB" sz="1400" dirty="0">
                <a:solidFill>
                  <a:schemeClr val="dk1"/>
                </a:solidFill>
                <a:latin typeface="Arial" panose="020B0604020202020204" pitchFamily="34" charset="0"/>
                <a:ea typeface="Lato"/>
                <a:cs typeface="Arial" panose="020B0604020202020204" pitchFamily="34" charset="0"/>
                <a:sym typeface="Lato"/>
              </a:rPr>
              <a:t>Year the agent was born.</a:t>
            </a:r>
            <a:endParaRPr sz="1400" dirty="0">
              <a:solidFill>
                <a:schemeClr val="dk1"/>
              </a:solidFill>
              <a:latin typeface="Arial" panose="020B0604020202020204" pitchFamily="34" charset="0"/>
              <a:ea typeface="Lato"/>
              <a:cs typeface="Arial" panose="020B0604020202020204" pitchFamily="34" charset="0"/>
              <a:sym typeface="Lato"/>
            </a:endParaRPr>
          </a:p>
          <a:p>
            <a:pPr marL="457200" lvl="0" indent="-311150" algn="l" rtl="0">
              <a:lnSpc>
                <a:spcPct val="150000"/>
              </a:lnSpc>
              <a:spcBef>
                <a:spcPts val="0"/>
              </a:spcBef>
              <a:spcAft>
                <a:spcPts val="0"/>
              </a:spcAft>
              <a:buClr>
                <a:schemeClr val="dk1"/>
              </a:buClr>
              <a:buSzPts val="1300"/>
              <a:buChar char="●"/>
            </a:pPr>
            <a:r>
              <a:rPr lang="en-GB" sz="1400" b="1" dirty="0">
                <a:solidFill>
                  <a:schemeClr val="dk1"/>
                </a:solidFill>
                <a:latin typeface="Arial" panose="020B0604020202020204" pitchFamily="34" charset="0"/>
                <a:ea typeface="Lato"/>
                <a:cs typeface="Arial" panose="020B0604020202020204" pitchFamily="34" charset="0"/>
                <a:sym typeface="Lato"/>
              </a:rPr>
              <a:t>Month of Birth: </a:t>
            </a:r>
            <a:r>
              <a:rPr lang="en-GB" sz="1400" dirty="0">
                <a:solidFill>
                  <a:schemeClr val="dk1"/>
                </a:solidFill>
                <a:latin typeface="Arial" panose="020B0604020202020204" pitchFamily="34" charset="0"/>
                <a:ea typeface="Lato"/>
                <a:cs typeface="Arial" panose="020B0604020202020204" pitchFamily="34" charset="0"/>
                <a:sym typeface="Lato"/>
              </a:rPr>
              <a:t>Month the agent was born.</a:t>
            </a:r>
            <a:endParaRPr sz="1400" dirty="0">
              <a:solidFill>
                <a:schemeClr val="dk1"/>
              </a:solidFill>
              <a:latin typeface="Arial" panose="020B0604020202020204" pitchFamily="34" charset="0"/>
              <a:ea typeface="Lato"/>
              <a:cs typeface="Arial" panose="020B0604020202020204" pitchFamily="34" charset="0"/>
              <a:sym typeface="Lato"/>
            </a:endParaRPr>
          </a:p>
          <a:p>
            <a:pPr marL="457200" lvl="0" indent="-311150" algn="l" rtl="0">
              <a:lnSpc>
                <a:spcPct val="150000"/>
              </a:lnSpc>
              <a:spcBef>
                <a:spcPts val="0"/>
              </a:spcBef>
              <a:spcAft>
                <a:spcPts val="0"/>
              </a:spcAft>
              <a:buClr>
                <a:schemeClr val="dk1"/>
              </a:buClr>
              <a:buSzPts val="1300"/>
              <a:buChar char="●"/>
            </a:pPr>
            <a:r>
              <a:rPr lang="en-GB" sz="1400" b="1" dirty="0">
                <a:solidFill>
                  <a:schemeClr val="dk1"/>
                </a:solidFill>
                <a:latin typeface="Arial" panose="020B0604020202020204" pitchFamily="34" charset="0"/>
                <a:ea typeface="Lato"/>
                <a:cs typeface="Arial" panose="020B0604020202020204" pitchFamily="34" charset="0"/>
                <a:sym typeface="Lato"/>
              </a:rPr>
              <a:t>Day of Birth: </a:t>
            </a:r>
            <a:r>
              <a:rPr lang="en-GB" sz="1400" dirty="0">
                <a:solidFill>
                  <a:schemeClr val="dk1"/>
                </a:solidFill>
                <a:latin typeface="Arial" panose="020B0604020202020204" pitchFamily="34" charset="0"/>
                <a:ea typeface="Lato"/>
                <a:cs typeface="Arial" panose="020B0604020202020204" pitchFamily="34" charset="0"/>
                <a:sym typeface="Lato"/>
              </a:rPr>
              <a:t>Day the agent was born.</a:t>
            </a:r>
            <a:endParaRPr sz="1400" dirty="0">
              <a:solidFill>
                <a:schemeClr val="dk1"/>
              </a:solidFill>
              <a:latin typeface="Arial" panose="020B0604020202020204" pitchFamily="34" charset="0"/>
              <a:ea typeface="Lato"/>
              <a:cs typeface="Arial" panose="020B0604020202020204" pitchFamily="34" charset="0"/>
              <a:sym typeface="Lato"/>
            </a:endParaRPr>
          </a:p>
          <a:p>
            <a:pPr marL="457200" marR="0" lvl="0" indent="0" algn="l" rtl="0">
              <a:lnSpc>
                <a:spcPct val="115000"/>
              </a:lnSpc>
              <a:spcBef>
                <a:spcPts val="0"/>
              </a:spcBef>
              <a:spcAft>
                <a:spcPts val="0"/>
              </a:spcAft>
              <a:buNone/>
            </a:pPr>
            <a:endParaRPr sz="1300" b="1" dirty="0">
              <a:solidFill>
                <a:schemeClr val="dk1"/>
              </a:solidFill>
              <a:latin typeface="Lato"/>
              <a:ea typeface="Lato"/>
              <a:cs typeface="Lato"/>
              <a:sym typeface="Lato"/>
            </a:endParaRPr>
          </a:p>
        </p:txBody>
      </p:sp>
      <p:sp>
        <p:nvSpPr>
          <p:cNvPr id="73" name="Google Shape;73;p5"/>
          <p:cNvSpPr txBox="1"/>
          <p:nvPr/>
        </p:nvSpPr>
        <p:spPr>
          <a:xfrm>
            <a:off x="521850" y="577762"/>
            <a:ext cx="4175100" cy="3835200"/>
          </a:xfrm>
          <a:prstGeom prst="rect">
            <a:avLst/>
          </a:prstGeom>
          <a:noFill/>
          <a:ln>
            <a:noFill/>
          </a:ln>
        </p:spPr>
        <p:txBody>
          <a:bodyPr spcFirstLastPara="1" wrap="square" lIns="91425" tIns="91425" rIns="91425" bIns="91425" anchor="t" anchorCtr="0">
            <a:noAutofit/>
          </a:bodyPr>
          <a:lstStyle/>
          <a:p>
            <a:pPr marL="457200" lvl="0" indent="-311150" algn="l" rtl="0">
              <a:lnSpc>
                <a:spcPct val="115000"/>
              </a:lnSpc>
              <a:spcBef>
                <a:spcPts val="0"/>
              </a:spcBef>
              <a:spcAft>
                <a:spcPts val="0"/>
              </a:spcAft>
              <a:buClr>
                <a:schemeClr val="dk1"/>
              </a:buClr>
              <a:buSzPts val="1300"/>
              <a:buFont typeface="Lato"/>
              <a:buChar char="➢"/>
            </a:pPr>
            <a:r>
              <a:rPr lang="en-GB" sz="1400" b="1" dirty="0">
                <a:solidFill>
                  <a:schemeClr val="dk1"/>
                </a:solidFill>
                <a:latin typeface="Arial" panose="020B0604020202020204" pitchFamily="34" charset="0"/>
                <a:ea typeface="Lato"/>
                <a:cs typeface="Arial" panose="020B0604020202020204" pitchFamily="34" charset="0"/>
                <a:sym typeface="Lato"/>
              </a:rPr>
              <a:t>Tickets Sheet: </a:t>
            </a:r>
            <a:r>
              <a:rPr lang="en-GB" sz="1400" dirty="0">
                <a:solidFill>
                  <a:schemeClr val="dk1"/>
                </a:solidFill>
                <a:latin typeface="Arial" panose="020B0604020202020204" pitchFamily="34" charset="0"/>
                <a:ea typeface="Lato"/>
                <a:cs typeface="Arial" panose="020B0604020202020204" pitchFamily="34" charset="0"/>
                <a:sym typeface="Lato"/>
              </a:rPr>
              <a:t>Contains information about IT support tickets.</a:t>
            </a:r>
            <a:endParaRPr sz="1400" dirty="0">
              <a:solidFill>
                <a:schemeClr val="dk1"/>
              </a:solidFill>
              <a:latin typeface="Arial" panose="020B0604020202020204" pitchFamily="34" charset="0"/>
              <a:ea typeface="Lato"/>
              <a:cs typeface="Arial" panose="020B0604020202020204" pitchFamily="34" charset="0"/>
              <a:sym typeface="Lato"/>
            </a:endParaRPr>
          </a:p>
          <a:p>
            <a:pPr marL="457200" lvl="0" indent="-311150" algn="l" rtl="0">
              <a:lnSpc>
                <a:spcPct val="100000"/>
              </a:lnSpc>
              <a:spcBef>
                <a:spcPts val="0"/>
              </a:spcBef>
              <a:spcAft>
                <a:spcPts val="0"/>
              </a:spcAft>
              <a:buClr>
                <a:schemeClr val="dk1"/>
              </a:buClr>
              <a:buSzPts val="1300"/>
              <a:buChar char="●"/>
            </a:pPr>
            <a:r>
              <a:rPr lang="en-GB" sz="1400" b="1" dirty="0">
                <a:solidFill>
                  <a:schemeClr val="dk1"/>
                </a:solidFill>
                <a:latin typeface="Arial" panose="020B0604020202020204" pitchFamily="34" charset="0"/>
                <a:ea typeface="Lato"/>
                <a:cs typeface="Arial" panose="020B0604020202020204" pitchFamily="34" charset="0"/>
                <a:sym typeface="Lato"/>
              </a:rPr>
              <a:t>ID: </a:t>
            </a:r>
            <a:r>
              <a:rPr lang="en-GB" sz="1400" dirty="0">
                <a:solidFill>
                  <a:schemeClr val="dk1"/>
                </a:solidFill>
                <a:latin typeface="Arial" panose="020B0604020202020204" pitchFamily="34" charset="0"/>
                <a:ea typeface="Lato"/>
                <a:cs typeface="Arial" panose="020B0604020202020204" pitchFamily="34" charset="0"/>
                <a:sym typeface="Lato"/>
              </a:rPr>
              <a:t>Unique identifier for the ticket.</a:t>
            </a:r>
            <a:endParaRPr sz="1400" dirty="0">
              <a:solidFill>
                <a:schemeClr val="dk1"/>
              </a:solidFill>
              <a:latin typeface="Arial" panose="020B0604020202020204" pitchFamily="34" charset="0"/>
              <a:ea typeface="Lato"/>
              <a:cs typeface="Arial" panose="020B0604020202020204" pitchFamily="34" charset="0"/>
              <a:sym typeface="Lato"/>
            </a:endParaRPr>
          </a:p>
          <a:p>
            <a:pPr marL="457200" lvl="0" indent="-311150" algn="l" rtl="0">
              <a:lnSpc>
                <a:spcPct val="100000"/>
              </a:lnSpc>
              <a:spcBef>
                <a:spcPts val="1000"/>
              </a:spcBef>
              <a:spcAft>
                <a:spcPts val="0"/>
              </a:spcAft>
              <a:buClr>
                <a:schemeClr val="dk1"/>
              </a:buClr>
              <a:buSzPts val="1300"/>
              <a:buChar char="●"/>
            </a:pPr>
            <a:r>
              <a:rPr lang="en-GB" sz="1400" b="1" dirty="0">
                <a:solidFill>
                  <a:schemeClr val="dk1"/>
                </a:solidFill>
                <a:latin typeface="Arial" panose="020B0604020202020204" pitchFamily="34" charset="0"/>
                <a:ea typeface="Lato"/>
                <a:cs typeface="Arial" panose="020B0604020202020204" pitchFamily="34" charset="0"/>
                <a:sym typeface="Lato"/>
              </a:rPr>
              <a:t>Ticket </a:t>
            </a:r>
            <a:r>
              <a:rPr lang="en-GB" sz="1400" b="1" dirty="0" err="1">
                <a:solidFill>
                  <a:schemeClr val="dk1"/>
                </a:solidFill>
                <a:latin typeface="Arial" panose="020B0604020202020204" pitchFamily="34" charset="0"/>
                <a:ea typeface="Lato"/>
                <a:cs typeface="Arial" panose="020B0604020202020204" pitchFamily="34" charset="0"/>
                <a:sym typeface="Lato"/>
              </a:rPr>
              <a:t>Fecha</a:t>
            </a:r>
            <a:r>
              <a:rPr lang="en-GB" sz="1400" b="1" dirty="0">
                <a:solidFill>
                  <a:schemeClr val="dk1"/>
                </a:solidFill>
                <a:latin typeface="Arial" panose="020B0604020202020204" pitchFamily="34" charset="0"/>
                <a:ea typeface="Lato"/>
                <a:cs typeface="Arial" panose="020B0604020202020204" pitchFamily="34" charset="0"/>
                <a:sym typeface="Lato"/>
              </a:rPr>
              <a:t>: </a:t>
            </a:r>
            <a:r>
              <a:rPr lang="en-GB" sz="1400" dirty="0">
                <a:solidFill>
                  <a:schemeClr val="dk1"/>
                </a:solidFill>
                <a:latin typeface="Arial" panose="020B0604020202020204" pitchFamily="34" charset="0"/>
                <a:ea typeface="Lato"/>
                <a:cs typeface="Arial" panose="020B0604020202020204" pitchFamily="34" charset="0"/>
                <a:sym typeface="Lato"/>
              </a:rPr>
              <a:t>Date of the ticket.</a:t>
            </a:r>
            <a:endParaRPr sz="1400" dirty="0">
              <a:solidFill>
                <a:schemeClr val="dk1"/>
              </a:solidFill>
              <a:latin typeface="Arial" panose="020B0604020202020204" pitchFamily="34" charset="0"/>
              <a:ea typeface="Lato"/>
              <a:cs typeface="Arial" panose="020B0604020202020204" pitchFamily="34" charset="0"/>
              <a:sym typeface="Lato"/>
            </a:endParaRPr>
          </a:p>
          <a:p>
            <a:pPr marL="457200" lvl="0" indent="-311150" algn="l" rtl="0">
              <a:lnSpc>
                <a:spcPct val="100000"/>
              </a:lnSpc>
              <a:spcBef>
                <a:spcPts val="1000"/>
              </a:spcBef>
              <a:spcAft>
                <a:spcPts val="0"/>
              </a:spcAft>
              <a:buClr>
                <a:schemeClr val="dk1"/>
              </a:buClr>
              <a:buSzPts val="1300"/>
              <a:buChar char="●"/>
            </a:pPr>
            <a:r>
              <a:rPr lang="en-GB" sz="1400" b="1" dirty="0">
                <a:solidFill>
                  <a:schemeClr val="dk1"/>
                </a:solidFill>
                <a:latin typeface="Arial" panose="020B0604020202020204" pitchFamily="34" charset="0"/>
                <a:ea typeface="Lato"/>
                <a:cs typeface="Arial" panose="020B0604020202020204" pitchFamily="34" charset="0"/>
                <a:sym typeface="Lato"/>
              </a:rPr>
              <a:t>Employee ID:</a:t>
            </a:r>
            <a:r>
              <a:rPr lang="en-GB" sz="1400" dirty="0">
                <a:solidFill>
                  <a:schemeClr val="dk1"/>
                </a:solidFill>
                <a:latin typeface="Arial" panose="020B0604020202020204" pitchFamily="34" charset="0"/>
                <a:ea typeface="Lato"/>
                <a:cs typeface="Arial" panose="020B0604020202020204" pitchFamily="34" charset="0"/>
                <a:sym typeface="Lato"/>
              </a:rPr>
              <a:t> ID of the employee who raised the ticket.</a:t>
            </a:r>
            <a:endParaRPr sz="1400" dirty="0">
              <a:solidFill>
                <a:schemeClr val="dk1"/>
              </a:solidFill>
              <a:latin typeface="Arial" panose="020B0604020202020204" pitchFamily="34" charset="0"/>
              <a:ea typeface="Lato"/>
              <a:cs typeface="Arial" panose="020B0604020202020204" pitchFamily="34" charset="0"/>
              <a:sym typeface="Lato"/>
            </a:endParaRPr>
          </a:p>
          <a:p>
            <a:pPr marL="457200" lvl="0" indent="-311150" algn="l" rtl="0">
              <a:lnSpc>
                <a:spcPct val="100000"/>
              </a:lnSpc>
              <a:spcBef>
                <a:spcPts val="1000"/>
              </a:spcBef>
              <a:spcAft>
                <a:spcPts val="0"/>
              </a:spcAft>
              <a:buClr>
                <a:schemeClr val="dk1"/>
              </a:buClr>
              <a:buSzPts val="1300"/>
              <a:buChar char="●"/>
            </a:pPr>
            <a:r>
              <a:rPr lang="en-GB" sz="1400" b="1" dirty="0">
                <a:solidFill>
                  <a:schemeClr val="dk1"/>
                </a:solidFill>
                <a:latin typeface="Arial" panose="020B0604020202020204" pitchFamily="34" charset="0"/>
                <a:ea typeface="Lato"/>
                <a:cs typeface="Arial" panose="020B0604020202020204" pitchFamily="34" charset="0"/>
                <a:sym typeface="Lato"/>
              </a:rPr>
              <a:t>Agent ID:</a:t>
            </a:r>
            <a:r>
              <a:rPr lang="en-GB" sz="1400" dirty="0">
                <a:solidFill>
                  <a:schemeClr val="dk1"/>
                </a:solidFill>
                <a:latin typeface="Arial" panose="020B0604020202020204" pitchFamily="34" charset="0"/>
                <a:ea typeface="Lato"/>
                <a:cs typeface="Arial" panose="020B0604020202020204" pitchFamily="34" charset="0"/>
                <a:sym typeface="Lato"/>
              </a:rPr>
              <a:t> ID of the agent assigned to the ticket.</a:t>
            </a:r>
            <a:endParaRPr sz="1400" dirty="0">
              <a:solidFill>
                <a:schemeClr val="dk1"/>
              </a:solidFill>
              <a:latin typeface="Arial" panose="020B0604020202020204" pitchFamily="34" charset="0"/>
              <a:ea typeface="Lato"/>
              <a:cs typeface="Arial" panose="020B0604020202020204" pitchFamily="34" charset="0"/>
              <a:sym typeface="Lato"/>
            </a:endParaRPr>
          </a:p>
          <a:p>
            <a:pPr marL="457200" lvl="0" indent="-311150" algn="l" rtl="0">
              <a:lnSpc>
                <a:spcPct val="100000"/>
              </a:lnSpc>
              <a:spcBef>
                <a:spcPts val="1000"/>
              </a:spcBef>
              <a:spcAft>
                <a:spcPts val="0"/>
              </a:spcAft>
              <a:buClr>
                <a:schemeClr val="dk1"/>
              </a:buClr>
              <a:buSzPts val="1300"/>
              <a:buChar char="●"/>
            </a:pPr>
            <a:r>
              <a:rPr lang="en-GB" sz="1400" b="1" dirty="0">
                <a:solidFill>
                  <a:schemeClr val="dk1"/>
                </a:solidFill>
                <a:latin typeface="Arial" panose="020B0604020202020204" pitchFamily="34" charset="0"/>
                <a:ea typeface="Lato"/>
                <a:cs typeface="Arial" panose="020B0604020202020204" pitchFamily="34" charset="0"/>
                <a:sym typeface="Lato"/>
              </a:rPr>
              <a:t>Request Category:</a:t>
            </a:r>
            <a:r>
              <a:rPr lang="en-GB" sz="1400" dirty="0">
                <a:solidFill>
                  <a:schemeClr val="dk1"/>
                </a:solidFill>
                <a:latin typeface="Arial" panose="020B0604020202020204" pitchFamily="34" charset="0"/>
                <a:ea typeface="Lato"/>
                <a:cs typeface="Arial" panose="020B0604020202020204" pitchFamily="34" charset="0"/>
                <a:sym typeface="Lato"/>
              </a:rPr>
              <a:t> Category of the request (e.g., Login Access, System, Software).</a:t>
            </a:r>
            <a:endParaRPr sz="1400" dirty="0">
              <a:solidFill>
                <a:schemeClr val="dk1"/>
              </a:solidFill>
              <a:latin typeface="Arial" panose="020B0604020202020204" pitchFamily="34" charset="0"/>
              <a:ea typeface="Lato"/>
              <a:cs typeface="Arial" panose="020B0604020202020204" pitchFamily="34" charset="0"/>
              <a:sym typeface="Lato"/>
            </a:endParaRPr>
          </a:p>
          <a:p>
            <a:pPr marL="457200" lvl="0" indent="-311150" algn="l" rtl="0">
              <a:lnSpc>
                <a:spcPct val="100000"/>
              </a:lnSpc>
              <a:spcBef>
                <a:spcPts val="1000"/>
              </a:spcBef>
              <a:spcAft>
                <a:spcPts val="0"/>
              </a:spcAft>
              <a:buClr>
                <a:schemeClr val="dk1"/>
              </a:buClr>
              <a:buSzPts val="1300"/>
              <a:buChar char="●"/>
            </a:pPr>
            <a:r>
              <a:rPr lang="en-GB" sz="1400" b="1" dirty="0">
                <a:solidFill>
                  <a:schemeClr val="dk1"/>
                </a:solidFill>
                <a:latin typeface="Arial" panose="020B0604020202020204" pitchFamily="34" charset="0"/>
                <a:ea typeface="Lato"/>
                <a:cs typeface="Arial" panose="020B0604020202020204" pitchFamily="34" charset="0"/>
                <a:sym typeface="Lato"/>
              </a:rPr>
              <a:t>Issue Type: </a:t>
            </a:r>
            <a:r>
              <a:rPr lang="en-GB" sz="1400" dirty="0">
                <a:solidFill>
                  <a:schemeClr val="dk1"/>
                </a:solidFill>
                <a:latin typeface="Arial" panose="020B0604020202020204" pitchFamily="34" charset="0"/>
                <a:ea typeface="Lato"/>
                <a:cs typeface="Arial" panose="020B0604020202020204" pitchFamily="34" charset="0"/>
                <a:sym typeface="Lato"/>
              </a:rPr>
              <a:t>Type of issue (e.g., IT Error, IT Request).</a:t>
            </a:r>
            <a:endParaRPr sz="1400" dirty="0">
              <a:solidFill>
                <a:schemeClr val="dk1"/>
              </a:solidFill>
              <a:latin typeface="Arial" panose="020B0604020202020204" pitchFamily="34" charset="0"/>
              <a:ea typeface="Lato"/>
              <a:cs typeface="Arial" panose="020B0604020202020204" pitchFamily="34" charset="0"/>
              <a:sym typeface="Lato"/>
            </a:endParaRPr>
          </a:p>
          <a:p>
            <a:pPr marL="457200" lvl="0" indent="-311150" algn="l" rtl="0">
              <a:lnSpc>
                <a:spcPct val="100000"/>
              </a:lnSpc>
              <a:spcBef>
                <a:spcPts val="1000"/>
              </a:spcBef>
              <a:spcAft>
                <a:spcPts val="0"/>
              </a:spcAft>
              <a:buClr>
                <a:schemeClr val="dk1"/>
              </a:buClr>
              <a:buSzPts val="1300"/>
              <a:buChar char="●"/>
            </a:pPr>
            <a:r>
              <a:rPr lang="en-GB" sz="1400" dirty="0">
                <a:solidFill>
                  <a:schemeClr val="dk1"/>
                </a:solidFill>
                <a:latin typeface="Arial" panose="020B0604020202020204" pitchFamily="34" charset="0"/>
                <a:ea typeface="Lato"/>
                <a:cs typeface="Arial" panose="020B0604020202020204" pitchFamily="34" charset="0"/>
                <a:sym typeface="Lato"/>
              </a:rPr>
              <a:t>Severity: Severity of the issue.</a:t>
            </a:r>
            <a:endParaRPr sz="1400" dirty="0">
              <a:solidFill>
                <a:schemeClr val="dk1"/>
              </a:solidFill>
              <a:latin typeface="Arial" panose="020B0604020202020204" pitchFamily="34" charset="0"/>
              <a:ea typeface="Lato"/>
              <a:cs typeface="Arial" panose="020B0604020202020204" pitchFamily="34" charset="0"/>
              <a:sym typeface="Lato"/>
            </a:endParaRPr>
          </a:p>
          <a:p>
            <a:pPr marL="457200" lvl="0" indent="-311150" algn="l" rtl="0">
              <a:lnSpc>
                <a:spcPct val="100000"/>
              </a:lnSpc>
              <a:spcBef>
                <a:spcPts val="1000"/>
              </a:spcBef>
              <a:spcAft>
                <a:spcPts val="0"/>
              </a:spcAft>
              <a:buClr>
                <a:schemeClr val="dk1"/>
              </a:buClr>
              <a:buSzPts val="1300"/>
              <a:buChar char="●"/>
            </a:pPr>
            <a:r>
              <a:rPr lang="en-GB" sz="1400" b="1" dirty="0">
                <a:solidFill>
                  <a:schemeClr val="dk1"/>
                </a:solidFill>
                <a:latin typeface="Arial" panose="020B0604020202020204" pitchFamily="34" charset="0"/>
                <a:ea typeface="Lato"/>
                <a:cs typeface="Arial" panose="020B0604020202020204" pitchFamily="34" charset="0"/>
                <a:sym typeface="Lato"/>
              </a:rPr>
              <a:t>Priority: </a:t>
            </a:r>
            <a:r>
              <a:rPr lang="en-GB" sz="1400" dirty="0">
                <a:solidFill>
                  <a:schemeClr val="dk1"/>
                </a:solidFill>
                <a:latin typeface="Arial" panose="020B0604020202020204" pitchFamily="34" charset="0"/>
                <a:ea typeface="Lato"/>
                <a:cs typeface="Arial" panose="020B0604020202020204" pitchFamily="34" charset="0"/>
                <a:sym typeface="Lato"/>
              </a:rPr>
              <a:t>Priority level of the issue.</a:t>
            </a:r>
            <a:endParaRPr sz="1400" dirty="0">
              <a:solidFill>
                <a:schemeClr val="dk1"/>
              </a:solidFill>
              <a:latin typeface="Arial" panose="020B0604020202020204" pitchFamily="34" charset="0"/>
              <a:ea typeface="Lato"/>
              <a:cs typeface="Arial" panose="020B0604020202020204" pitchFamily="34" charset="0"/>
              <a:sym typeface="Lato"/>
            </a:endParaRPr>
          </a:p>
          <a:p>
            <a:pPr marL="0" marR="0" lvl="0" indent="0" algn="l" rtl="0">
              <a:lnSpc>
                <a:spcPct val="115000"/>
              </a:lnSpc>
              <a:spcBef>
                <a:spcPts val="1000"/>
              </a:spcBef>
              <a:spcAft>
                <a:spcPts val="0"/>
              </a:spcAft>
              <a:buClr>
                <a:srgbClr val="000000"/>
              </a:buClr>
              <a:buSzPts val="1200"/>
              <a:buFont typeface="Arial"/>
              <a:buNone/>
            </a:pPr>
            <a:endParaRPr sz="1200" b="1" i="0" u="none" strike="noStrike" cap="none" dirty="0">
              <a:solidFill>
                <a:schemeClr val="dk1"/>
              </a:solidFill>
              <a:latin typeface="Lato"/>
              <a:ea typeface="Lato"/>
              <a:cs typeface="Lato"/>
              <a:sym typeface="Lato"/>
            </a:endParaRPr>
          </a:p>
          <a:p>
            <a:pPr marL="457200" marR="0" lvl="0" indent="0" algn="l" rtl="0">
              <a:lnSpc>
                <a:spcPct val="115000"/>
              </a:lnSpc>
              <a:spcBef>
                <a:spcPts val="0"/>
              </a:spcBef>
              <a:spcAft>
                <a:spcPts val="0"/>
              </a:spcAft>
              <a:buClr>
                <a:schemeClr val="dk1"/>
              </a:buClr>
              <a:buSzPts val="1100"/>
              <a:buFont typeface="Arial"/>
              <a:buNone/>
            </a:pPr>
            <a:endParaRPr sz="1800" b="1" i="0" u="none" strike="noStrike" cap="none" dirty="0">
              <a:solidFill>
                <a:schemeClr val="dk1"/>
              </a:solidFill>
              <a:latin typeface="Lato"/>
              <a:ea typeface="Lato"/>
              <a:cs typeface="Lato"/>
              <a:sym typeface="Lato"/>
            </a:endParaRPr>
          </a:p>
          <a:p>
            <a:pPr marL="457200" marR="0" lvl="0" indent="0" algn="l" rtl="0">
              <a:lnSpc>
                <a:spcPct val="115000"/>
              </a:lnSpc>
              <a:spcBef>
                <a:spcPts val="0"/>
              </a:spcBef>
              <a:spcAft>
                <a:spcPts val="0"/>
              </a:spcAft>
              <a:buClr>
                <a:schemeClr val="dk1"/>
              </a:buClr>
              <a:buSzPts val="1100"/>
              <a:buFont typeface="Arial"/>
              <a:buNone/>
            </a:pPr>
            <a:endParaRPr sz="1800" b="0" i="0" u="none" strike="noStrike" cap="none" dirty="0">
              <a:solidFill>
                <a:schemeClr val="dk1"/>
              </a:solidFill>
              <a:latin typeface="Lato"/>
              <a:ea typeface="Lato"/>
              <a:cs typeface="Lato"/>
              <a:sym typeface="Lato"/>
            </a:endParaRPr>
          </a:p>
          <a:p>
            <a:pPr marL="457200" marR="0" lvl="0" indent="0" algn="l" rtl="0">
              <a:lnSpc>
                <a:spcPct val="115000"/>
              </a:lnSpc>
              <a:spcBef>
                <a:spcPts val="0"/>
              </a:spcBef>
              <a:spcAft>
                <a:spcPts val="0"/>
              </a:spcAft>
              <a:buClr>
                <a:schemeClr val="dk1"/>
              </a:buClr>
              <a:buSzPts val="1100"/>
              <a:buFont typeface="Arial"/>
              <a:buNone/>
            </a:pPr>
            <a:endParaRPr sz="1800" b="0" i="0" u="none" strike="noStrike" cap="none" dirty="0">
              <a:solidFill>
                <a:schemeClr val="dk1"/>
              </a:solidFill>
              <a:latin typeface="Lato"/>
              <a:ea typeface="Lato"/>
              <a:cs typeface="Lato"/>
              <a:sym typeface="Lato"/>
            </a:endParaRPr>
          </a:p>
          <a:p>
            <a:pPr marL="0" marR="0" lvl="0" indent="0" algn="l" rtl="0">
              <a:lnSpc>
                <a:spcPct val="100000"/>
              </a:lnSpc>
              <a:spcBef>
                <a:spcPts val="0"/>
              </a:spcBef>
              <a:spcAft>
                <a:spcPts val="0"/>
              </a:spcAft>
              <a:buClr>
                <a:schemeClr val="dk1"/>
              </a:buClr>
              <a:buSzPts val="1100"/>
              <a:buFont typeface="Arial"/>
              <a:buNone/>
            </a:pPr>
            <a:endParaRPr sz="1800" b="0" i="0" u="none" strike="noStrike" cap="none" dirty="0">
              <a:solidFill>
                <a:schemeClr val="dk1"/>
              </a:solidFill>
              <a:latin typeface="Lato"/>
              <a:ea typeface="Lato"/>
              <a:cs typeface="Lato"/>
              <a:sym typeface="Lato"/>
            </a:endParaRPr>
          </a:p>
          <a:p>
            <a:pPr marL="457200" marR="0" lvl="0" indent="0" algn="l" rtl="0">
              <a:lnSpc>
                <a:spcPct val="115000"/>
              </a:lnSpc>
              <a:spcBef>
                <a:spcPts val="0"/>
              </a:spcBef>
              <a:spcAft>
                <a:spcPts val="0"/>
              </a:spcAft>
              <a:buClr>
                <a:srgbClr val="000000"/>
              </a:buClr>
              <a:buSzPts val="1200"/>
              <a:buFont typeface="Arial"/>
              <a:buNone/>
            </a:pPr>
            <a:endParaRPr sz="1200" b="0" i="0" u="none" strike="noStrike" cap="none" dirty="0">
              <a:solidFill>
                <a:schemeClr val="dk1"/>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FE12D-C0FF-3687-6281-CD9F575E661B}"/>
              </a:ext>
            </a:extLst>
          </p:cNvPr>
          <p:cNvSpPr>
            <a:spLocks noGrp="1"/>
          </p:cNvSpPr>
          <p:nvPr>
            <p:ph type="title"/>
          </p:nvPr>
        </p:nvSpPr>
        <p:spPr/>
        <p:txBody>
          <a:bodyPr/>
          <a:lstStyle/>
          <a:p>
            <a:pPr>
              <a:buNone/>
            </a:pPr>
            <a:r>
              <a:rPr lang="en-IN" sz="1800" b="1" dirty="0"/>
              <a:t>Methodology</a:t>
            </a:r>
          </a:p>
        </p:txBody>
      </p:sp>
      <p:sp>
        <p:nvSpPr>
          <p:cNvPr id="3" name="Text Placeholder 2">
            <a:extLst>
              <a:ext uri="{FF2B5EF4-FFF2-40B4-BE49-F238E27FC236}">
                <a16:creationId xmlns:a16="http://schemas.microsoft.com/office/drawing/2014/main" id="{7E46D925-3162-4A9E-42CC-AF3FE32A7925}"/>
              </a:ext>
            </a:extLst>
          </p:cNvPr>
          <p:cNvSpPr>
            <a:spLocks noGrp="1"/>
          </p:cNvSpPr>
          <p:nvPr>
            <p:ph type="body" idx="1"/>
          </p:nvPr>
        </p:nvSpPr>
        <p:spPr/>
        <p:txBody>
          <a:bodyPr/>
          <a:lstStyle/>
          <a:p>
            <a:pPr marL="139700" indent="0">
              <a:buNone/>
            </a:pPr>
            <a:r>
              <a:rPr lang="en-US" b="1" dirty="0"/>
              <a:t>Data Collection &amp; Preparation</a:t>
            </a:r>
          </a:p>
          <a:p>
            <a:endParaRPr lang="en-US" dirty="0"/>
          </a:p>
          <a:p>
            <a:r>
              <a:rPr lang="en-US" dirty="0"/>
              <a:t>Collect datasets (Tickets, Agents, Employee Satisfaction).</a:t>
            </a:r>
          </a:p>
          <a:p>
            <a:r>
              <a:rPr lang="en-US" dirty="0"/>
              <a:t>Clean the data by handling missing values, duplicate entries, and inconsistent formats.</a:t>
            </a:r>
          </a:p>
          <a:p>
            <a:r>
              <a:rPr lang="en-US" dirty="0"/>
              <a:t>Standardize categorical fields (e.g., severity levels, issue categories).</a:t>
            </a:r>
          </a:p>
          <a:p>
            <a:r>
              <a:rPr lang="en-US" dirty="0"/>
              <a:t>Extract additional attributes where needed (e.g., domain from email, full agent name from ID).</a:t>
            </a:r>
          </a:p>
          <a:p>
            <a:pPr marL="139700" indent="0">
              <a:buNone/>
            </a:pPr>
            <a:endParaRPr lang="en-US" dirty="0"/>
          </a:p>
          <a:p>
            <a:pPr marL="139700" indent="0">
              <a:buNone/>
            </a:pPr>
            <a:r>
              <a:rPr lang="en-US" b="1" dirty="0"/>
              <a:t>Descriptive Analysis</a:t>
            </a:r>
            <a:endParaRPr lang="en-US" dirty="0"/>
          </a:p>
          <a:p>
            <a:r>
              <a:rPr lang="en-US" dirty="0"/>
              <a:t>Count total attributes, categorical vs. continuous variables.</a:t>
            </a:r>
          </a:p>
          <a:p>
            <a:r>
              <a:rPr lang="en-US" dirty="0"/>
              <a:t>Identify missing/inconsistent values and calculate their counts.</a:t>
            </a:r>
          </a:p>
          <a:p>
            <a:r>
              <a:rPr lang="en-US" dirty="0"/>
              <a:t>Use Pivot Tables to compute:</a:t>
            </a:r>
          </a:p>
          <a:p>
            <a:pPr lvl="1"/>
            <a:r>
              <a:rPr lang="en-US" dirty="0"/>
              <a:t>Ticket volumes (daily, monthly, quarterly).</a:t>
            </a:r>
          </a:p>
          <a:p>
            <a:pPr lvl="1"/>
            <a:r>
              <a:rPr lang="en-US" dirty="0"/>
              <a:t>Average resolution times.</a:t>
            </a:r>
          </a:p>
          <a:p>
            <a:pPr lvl="1"/>
            <a:r>
              <a:rPr lang="en-US" dirty="0"/>
              <a:t>Ticket distribution by category, issue type, and severity.</a:t>
            </a:r>
          </a:p>
          <a:p>
            <a:pPr marL="139700" indent="0">
              <a:buNone/>
            </a:pPr>
            <a:endParaRPr lang="en-IN" b="1" dirty="0"/>
          </a:p>
        </p:txBody>
      </p:sp>
    </p:spTree>
    <p:extLst>
      <p:ext uri="{BB962C8B-B14F-4D97-AF65-F5344CB8AC3E}">
        <p14:creationId xmlns:p14="http://schemas.microsoft.com/office/powerpoint/2010/main" val="1674120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4B3F7-EB10-7E2C-E2C9-931CAE53777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B9BC8126-6CCB-DB53-7DE1-0C6BFF7EAB76}"/>
              </a:ext>
            </a:extLst>
          </p:cNvPr>
          <p:cNvSpPr>
            <a:spLocks noGrp="1"/>
          </p:cNvSpPr>
          <p:nvPr>
            <p:ph type="body" idx="1"/>
          </p:nvPr>
        </p:nvSpPr>
        <p:spPr>
          <a:xfrm>
            <a:off x="250032" y="178594"/>
            <a:ext cx="8536782" cy="4964906"/>
          </a:xfrm>
        </p:spPr>
        <p:txBody>
          <a:bodyPr/>
          <a:lstStyle/>
          <a:p>
            <a:pPr marL="139700" indent="0">
              <a:buNone/>
            </a:pPr>
            <a:r>
              <a:rPr lang="en-US" b="1" dirty="0"/>
              <a:t>Agent Performance Analysis</a:t>
            </a:r>
            <a:endParaRPr lang="en-US" dirty="0"/>
          </a:p>
          <a:p>
            <a:r>
              <a:rPr lang="en-US" dirty="0"/>
              <a:t>Measure key performance metrics:</a:t>
            </a:r>
          </a:p>
          <a:p>
            <a:pPr lvl="1"/>
            <a:r>
              <a:rPr lang="en-US" dirty="0"/>
              <a:t>Number of tickets handled per agent.</a:t>
            </a:r>
          </a:p>
          <a:p>
            <a:pPr lvl="1"/>
            <a:r>
              <a:rPr lang="en-US" dirty="0"/>
              <a:t>Average resolution time per agent.</a:t>
            </a:r>
          </a:p>
          <a:p>
            <a:pPr lvl="1"/>
            <a:r>
              <a:rPr lang="en-US" dirty="0"/>
              <a:t>Satisfaction scores per agent.</a:t>
            </a:r>
          </a:p>
          <a:p>
            <a:r>
              <a:rPr lang="en-US" dirty="0"/>
              <a:t>Use </a:t>
            </a:r>
            <a:r>
              <a:rPr lang="en-US" b="1" dirty="0"/>
              <a:t>pivot tables with conditional formatting</a:t>
            </a:r>
            <a:r>
              <a:rPr lang="en-US" dirty="0"/>
              <a:t> to flag high vs. low performers.</a:t>
            </a:r>
          </a:p>
          <a:p>
            <a:r>
              <a:rPr lang="en-US" dirty="0"/>
              <a:t>Apply formulas/aggregations to identify agents needing additional training.</a:t>
            </a:r>
          </a:p>
          <a:p>
            <a:pPr marL="139700" indent="0">
              <a:buNone/>
            </a:pPr>
            <a:endParaRPr lang="en-US" dirty="0"/>
          </a:p>
          <a:p>
            <a:pPr marL="139700" indent="0">
              <a:buNone/>
            </a:pPr>
            <a:r>
              <a:rPr lang="en-US" b="1" dirty="0"/>
              <a:t>Trend Analysis</a:t>
            </a:r>
            <a:endParaRPr lang="en-US" dirty="0"/>
          </a:p>
          <a:p>
            <a:r>
              <a:rPr lang="en-US" dirty="0"/>
              <a:t>Track ticket volumes over time (line charts for daily/monthly/quarterly).</a:t>
            </a:r>
          </a:p>
          <a:p>
            <a:r>
              <a:rPr lang="en-US" dirty="0"/>
              <a:t>Track satisfaction levels over time.</a:t>
            </a:r>
          </a:p>
          <a:p>
            <a:r>
              <a:rPr lang="en-US" dirty="0"/>
              <a:t>Identify </a:t>
            </a:r>
            <a:r>
              <a:rPr lang="en-US" b="1" dirty="0"/>
              <a:t>peak periods vs. stable times</a:t>
            </a:r>
            <a:r>
              <a:rPr lang="en-US" dirty="0"/>
              <a:t>.</a:t>
            </a:r>
          </a:p>
          <a:p>
            <a:r>
              <a:rPr lang="en-US" dirty="0"/>
              <a:t>Compare ticket trends with resolution times for workload impact.</a:t>
            </a:r>
          </a:p>
          <a:p>
            <a:pPr marL="139700" indent="0">
              <a:buNone/>
            </a:pPr>
            <a:endParaRPr lang="en-US" dirty="0"/>
          </a:p>
          <a:p>
            <a:pPr marL="139700" indent="0">
              <a:buNone/>
            </a:pPr>
            <a:r>
              <a:rPr lang="en-US" b="1" dirty="0"/>
              <a:t>Correlation &amp; Relationship Analysis</a:t>
            </a:r>
            <a:endParaRPr lang="en-US" dirty="0"/>
          </a:p>
          <a:p>
            <a:r>
              <a:rPr lang="en-US" dirty="0"/>
              <a:t>Analyze correlation between </a:t>
            </a:r>
            <a:r>
              <a:rPr lang="en-US" b="1" dirty="0"/>
              <a:t>severity of issues</a:t>
            </a:r>
            <a:r>
              <a:rPr lang="en-US" dirty="0"/>
              <a:t> and </a:t>
            </a:r>
            <a:r>
              <a:rPr lang="en-US" b="1" dirty="0"/>
              <a:t>resolution time</a:t>
            </a:r>
            <a:r>
              <a:rPr lang="en-US" dirty="0"/>
              <a:t>.</a:t>
            </a:r>
          </a:p>
          <a:p>
            <a:pPr marL="139700" indent="0">
              <a:buNone/>
            </a:pPr>
            <a:endParaRPr lang="en-US" dirty="0"/>
          </a:p>
          <a:p>
            <a:pPr marL="139700" indent="0">
              <a:buNone/>
            </a:pPr>
            <a:endParaRPr lang="en-IN" b="1" dirty="0"/>
          </a:p>
        </p:txBody>
      </p:sp>
    </p:spTree>
    <p:extLst>
      <p:ext uri="{BB962C8B-B14F-4D97-AF65-F5344CB8AC3E}">
        <p14:creationId xmlns:p14="http://schemas.microsoft.com/office/powerpoint/2010/main" val="17401449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1A275-FBCF-1437-81F2-A43AF314631B}"/>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5E58CCF0-DBCB-DD1C-1827-9842A647AC13}"/>
              </a:ext>
            </a:extLst>
          </p:cNvPr>
          <p:cNvSpPr>
            <a:spLocks noGrp="1"/>
          </p:cNvSpPr>
          <p:nvPr>
            <p:ph type="body" idx="1"/>
          </p:nvPr>
        </p:nvSpPr>
        <p:spPr>
          <a:xfrm>
            <a:off x="250032" y="178594"/>
            <a:ext cx="8536782" cy="4964906"/>
          </a:xfrm>
        </p:spPr>
        <p:txBody>
          <a:bodyPr/>
          <a:lstStyle/>
          <a:p>
            <a:pPr marL="139700" indent="0">
              <a:buNone/>
            </a:pPr>
            <a:r>
              <a:rPr lang="en-US" b="1" dirty="0"/>
              <a:t>Segmentation Analysis</a:t>
            </a:r>
            <a:endParaRPr lang="en-US" dirty="0"/>
          </a:p>
          <a:p>
            <a:r>
              <a:rPr lang="en-US" dirty="0"/>
              <a:t>Segment tickets by request category, priority, and severity.</a:t>
            </a:r>
          </a:p>
          <a:p>
            <a:r>
              <a:rPr lang="en-US" dirty="0"/>
              <a:t>Compare performance across different ticket categories.</a:t>
            </a:r>
          </a:p>
          <a:p>
            <a:r>
              <a:rPr lang="en-US" dirty="0"/>
              <a:t>Segment agents based on workload and outcomes.</a:t>
            </a:r>
          </a:p>
          <a:p>
            <a:pPr marL="139700" indent="0">
              <a:buNone/>
            </a:pPr>
            <a:endParaRPr lang="en-US" dirty="0"/>
          </a:p>
          <a:p>
            <a:r>
              <a:rPr lang="en-US" b="1" dirty="0"/>
              <a:t>Dashboard Development</a:t>
            </a:r>
            <a:endParaRPr lang="en-US" dirty="0"/>
          </a:p>
          <a:p>
            <a:r>
              <a:rPr lang="en-US" dirty="0"/>
              <a:t>Build an </a:t>
            </a:r>
            <a:r>
              <a:rPr lang="en-US" b="1" dirty="0"/>
              <a:t>Excel Dashboard</a:t>
            </a:r>
            <a:r>
              <a:rPr lang="en-US" dirty="0"/>
              <a:t> to summarize findings:</a:t>
            </a:r>
          </a:p>
          <a:p>
            <a:pPr lvl="1"/>
            <a:r>
              <a:rPr lang="en-US" dirty="0"/>
              <a:t>Ticket volume trends (line/area charts).</a:t>
            </a:r>
          </a:p>
          <a:p>
            <a:pPr lvl="1"/>
            <a:r>
              <a:rPr lang="en-US" dirty="0"/>
              <a:t>Ticket distribution by category (pie/donut chart).</a:t>
            </a:r>
          </a:p>
          <a:p>
            <a:pPr lvl="1"/>
            <a:r>
              <a:rPr lang="en-US" dirty="0"/>
              <a:t>Average resolution times (bar chart).</a:t>
            </a:r>
          </a:p>
          <a:p>
            <a:pPr lvl="1"/>
            <a:r>
              <a:rPr lang="en-US" dirty="0"/>
              <a:t>Agent performance (leaderboard table + conditional formatting).</a:t>
            </a:r>
          </a:p>
          <a:p>
            <a:pPr lvl="1"/>
            <a:r>
              <a:rPr lang="en-US" dirty="0"/>
              <a:t>Satisfaction trends (line chart).</a:t>
            </a:r>
          </a:p>
          <a:p>
            <a:r>
              <a:rPr lang="en-US" dirty="0"/>
              <a:t>Use slicers (filters) for dynamic segmentation (e.g., filter by severity, category, agent).</a:t>
            </a:r>
          </a:p>
          <a:p>
            <a:pPr marL="139700" indent="0">
              <a:buNone/>
            </a:pPr>
            <a:endParaRPr lang="en-US" dirty="0"/>
          </a:p>
          <a:p>
            <a:pPr marL="139700" indent="0">
              <a:buNone/>
            </a:pPr>
            <a:r>
              <a:rPr lang="en-US" b="1" dirty="0"/>
              <a:t>Decision Support &amp; Recommendations</a:t>
            </a:r>
            <a:endParaRPr lang="en-US" dirty="0"/>
          </a:p>
          <a:p>
            <a:r>
              <a:rPr lang="en-US" dirty="0"/>
              <a:t>Identify agents needing training, hiring, or potential replacement.</a:t>
            </a:r>
          </a:p>
          <a:p>
            <a:pPr marL="139700" indent="0">
              <a:buNone/>
            </a:pPr>
            <a:endParaRPr lang="en-US" dirty="0"/>
          </a:p>
          <a:p>
            <a:pPr marL="139700" indent="0">
              <a:buNone/>
            </a:pPr>
            <a:endParaRPr lang="en-IN" b="1" dirty="0"/>
          </a:p>
        </p:txBody>
      </p:sp>
    </p:spTree>
    <p:extLst>
      <p:ext uri="{BB962C8B-B14F-4D97-AF65-F5344CB8AC3E}">
        <p14:creationId xmlns:p14="http://schemas.microsoft.com/office/powerpoint/2010/main" val="7633446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D7A87-B467-91F4-0268-C3273B9F8443}"/>
              </a:ext>
            </a:extLst>
          </p:cNvPr>
          <p:cNvSpPr>
            <a:spLocks noGrp="1"/>
          </p:cNvSpPr>
          <p:nvPr>
            <p:ph type="title"/>
          </p:nvPr>
        </p:nvSpPr>
        <p:spPr>
          <a:xfrm>
            <a:off x="311700" y="158675"/>
            <a:ext cx="8520600" cy="572700"/>
          </a:xfrm>
        </p:spPr>
        <p:txBody>
          <a:bodyPr/>
          <a:lstStyle/>
          <a:p>
            <a:pPr algn="ctr">
              <a:buNone/>
            </a:pPr>
            <a:r>
              <a:rPr lang="en-IN" sz="2000" b="1" dirty="0"/>
              <a:t>VISUALIZATIONS</a:t>
            </a:r>
          </a:p>
        </p:txBody>
      </p:sp>
      <p:sp>
        <p:nvSpPr>
          <p:cNvPr id="3" name="Text Placeholder 2">
            <a:extLst>
              <a:ext uri="{FF2B5EF4-FFF2-40B4-BE49-F238E27FC236}">
                <a16:creationId xmlns:a16="http://schemas.microsoft.com/office/drawing/2014/main" id="{186C04CD-D118-B9B5-339E-67A2A504E901}"/>
              </a:ext>
            </a:extLst>
          </p:cNvPr>
          <p:cNvSpPr>
            <a:spLocks noGrp="1"/>
          </p:cNvSpPr>
          <p:nvPr>
            <p:ph type="body" idx="1"/>
          </p:nvPr>
        </p:nvSpPr>
        <p:spPr>
          <a:xfrm>
            <a:off x="196132" y="364331"/>
            <a:ext cx="5110407" cy="3314699"/>
          </a:xfrm>
        </p:spPr>
        <p:txBody>
          <a:bodyPr/>
          <a:lstStyle/>
          <a:p>
            <a:pPr marL="139700" indent="0">
              <a:buNone/>
            </a:pPr>
            <a:r>
              <a:rPr lang="en-IN" dirty="0"/>
              <a:t>Ticket Category Distribution across different Request Categories</a:t>
            </a:r>
          </a:p>
          <a:p>
            <a:pPr marL="139700" indent="0">
              <a:buNone/>
            </a:pPr>
            <a:r>
              <a:rPr lang="en-IN" dirty="0"/>
              <a:t>Highest: System(40%)</a:t>
            </a:r>
          </a:p>
          <a:p>
            <a:pPr marL="139700" indent="0">
              <a:buNone/>
            </a:pPr>
            <a:r>
              <a:rPr lang="en-IN" dirty="0"/>
              <a:t>Lowest: Hardware(10%)</a:t>
            </a:r>
          </a:p>
          <a:p>
            <a:pPr marL="139700" indent="0">
              <a:buNone/>
            </a:pPr>
            <a:r>
              <a:rPr lang="en-IN" dirty="0"/>
              <a:t>Login Access(30%)</a:t>
            </a:r>
          </a:p>
          <a:p>
            <a:pPr marL="139700" indent="0">
              <a:buNone/>
            </a:pPr>
            <a:r>
              <a:rPr lang="en-IN" dirty="0"/>
              <a:t>Software(20%)</a:t>
            </a:r>
          </a:p>
          <a:p>
            <a:pPr marL="139700" indent="0">
              <a:buNone/>
            </a:pPr>
            <a:endParaRPr lang="en-IN" dirty="0"/>
          </a:p>
        </p:txBody>
      </p:sp>
      <p:graphicFrame>
        <p:nvGraphicFramePr>
          <p:cNvPr id="5" name="Chart 4">
            <a:extLst>
              <a:ext uri="{FF2B5EF4-FFF2-40B4-BE49-F238E27FC236}">
                <a16:creationId xmlns:a16="http://schemas.microsoft.com/office/drawing/2014/main" id="{C434B230-0004-4771-887F-10335366754A}"/>
              </a:ext>
            </a:extLst>
          </p:cNvPr>
          <p:cNvGraphicFramePr>
            <a:graphicFrameLocks/>
          </p:cNvGraphicFramePr>
          <p:nvPr>
            <p:extLst>
              <p:ext uri="{D42A27DB-BD31-4B8C-83A1-F6EECF244321}">
                <p14:modId xmlns:p14="http://schemas.microsoft.com/office/powerpoint/2010/main" val="1070216934"/>
              </p:ext>
            </p:extLst>
          </p:nvPr>
        </p:nvGraphicFramePr>
        <p:xfrm>
          <a:off x="4510956" y="924887"/>
          <a:ext cx="4436912" cy="288006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8904089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390EB1A-1C2F-AF08-B8AD-6B9A70712697}"/>
              </a:ext>
            </a:extLst>
          </p:cNvPr>
          <p:cNvSpPr>
            <a:spLocks noGrp="1"/>
          </p:cNvSpPr>
          <p:nvPr>
            <p:ph type="title"/>
          </p:nvPr>
        </p:nvSpPr>
        <p:spPr>
          <a:xfrm>
            <a:off x="261694" y="130700"/>
            <a:ext cx="8520600" cy="572700"/>
          </a:xfrm>
        </p:spPr>
        <p:txBody>
          <a:bodyPr/>
          <a:lstStyle/>
          <a:p>
            <a:pPr algn="ctr">
              <a:buNone/>
            </a:pPr>
            <a:r>
              <a:rPr lang="en-IN" sz="2000" b="1" dirty="0"/>
              <a:t>Yearly Ticket Distribution</a:t>
            </a:r>
          </a:p>
        </p:txBody>
      </p:sp>
      <p:sp>
        <p:nvSpPr>
          <p:cNvPr id="7" name="Text Placeholder 6">
            <a:extLst>
              <a:ext uri="{FF2B5EF4-FFF2-40B4-BE49-F238E27FC236}">
                <a16:creationId xmlns:a16="http://schemas.microsoft.com/office/drawing/2014/main" id="{D0527990-EB7D-6835-65C7-3D8AA3144ACB}"/>
              </a:ext>
            </a:extLst>
          </p:cNvPr>
          <p:cNvSpPr>
            <a:spLocks noGrp="1"/>
          </p:cNvSpPr>
          <p:nvPr>
            <p:ph type="body" idx="1"/>
          </p:nvPr>
        </p:nvSpPr>
        <p:spPr>
          <a:xfrm>
            <a:off x="261694" y="417050"/>
            <a:ext cx="4503187" cy="3554275"/>
          </a:xfrm>
        </p:spPr>
        <p:txBody>
          <a:bodyPr/>
          <a:lstStyle/>
          <a:p>
            <a:r>
              <a:rPr lang="en-US" b="1" dirty="0"/>
              <a:t>Stable Early Years (2016–2017):</a:t>
            </a:r>
            <a:r>
              <a:rPr lang="en-US" dirty="0"/>
              <a:t> Ticket volumes remained relatively steady with only minor fluctuations.</a:t>
            </a:r>
          </a:p>
          <a:p>
            <a:r>
              <a:rPr lang="en-US" b="1" dirty="0"/>
              <a:t>Significant Growth Post-2018:</a:t>
            </a:r>
            <a:r>
              <a:rPr lang="en-US" dirty="0"/>
              <a:t> A noticeable rise in ticket volume began from 2018, indicating increasing IT support demand.</a:t>
            </a:r>
          </a:p>
          <a:p>
            <a:r>
              <a:rPr lang="en-US" b="1" dirty="0"/>
              <a:t>Overall Upward Trend:</a:t>
            </a:r>
            <a:r>
              <a:rPr lang="en-US" dirty="0"/>
              <a:t> The consistent growth over the years highlights expanding IT activity and workload, emphasizing the need for scalable solutions.</a:t>
            </a:r>
          </a:p>
        </p:txBody>
      </p:sp>
      <p:graphicFrame>
        <p:nvGraphicFramePr>
          <p:cNvPr id="8" name="Chart 7">
            <a:extLst>
              <a:ext uri="{FF2B5EF4-FFF2-40B4-BE49-F238E27FC236}">
                <a16:creationId xmlns:a16="http://schemas.microsoft.com/office/drawing/2014/main" id="{8B8FC308-52A7-4211-9D00-F48A5076EAB0}"/>
              </a:ext>
            </a:extLst>
          </p:cNvPr>
          <p:cNvGraphicFramePr>
            <a:graphicFrameLocks/>
          </p:cNvGraphicFramePr>
          <p:nvPr>
            <p:extLst>
              <p:ext uri="{D42A27DB-BD31-4B8C-83A1-F6EECF244321}">
                <p14:modId xmlns:p14="http://schemas.microsoft.com/office/powerpoint/2010/main" val="2478992204"/>
              </p:ext>
            </p:extLst>
          </p:nvPr>
        </p:nvGraphicFramePr>
        <p:xfrm>
          <a:off x="5029200" y="950119"/>
          <a:ext cx="3936206" cy="302120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891559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FE755-C12F-6FE7-6633-4CDCB8F0E8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4AD18A-305D-30D0-276E-359E1C32A4FC}"/>
              </a:ext>
            </a:extLst>
          </p:cNvPr>
          <p:cNvSpPr>
            <a:spLocks noGrp="1"/>
          </p:cNvSpPr>
          <p:nvPr>
            <p:ph type="title"/>
          </p:nvPr>
        </p:nvSpPr>
        <p:spPr>
          <a:xfrm>
            <a:off x="311700" y="130700"/>
            <a:ext cx="8520600" cy="572700"/>
          </a:xfrm>
        </p:spPr>
        <p:txBody>
          <a:bodyPr/>
          <a:lstStyle/>
          <a:p>
            <a:pPr algn="ctr">
              <a:buNone/>
            </a:pPr>
            <a:r>
              <a:rPr lang="en-IN" sz="2000" b="1" dirty="0"/>
              <a:t>Tickets By Severity</a:t>
            </a:r>
          </a:p>
        </p:txBody>
      </p:sp>
      <p:sp>
        <p:nvSpPr>
          <p:cNvPr id="3" name="Text Placeholder 2">
            <a:extLst>
              <a:ext uri="{FF2B5EF4-FFF2-40B4-BE49-F238E27FC236}">
                <a16:creationId xmlns:a16="http://schemas.microsoft.com/office/drawing/2014/main" id="{F9D885A9-9396-8845-1718-A1B32BC7EDD8}"/>
              </a:ext>
            </a:extLst>
          </p:cNvPr>
          <p:cNvSpPr>
            <a:spLocks noGrp="1"/>
          </p:cNvSpPr>
          <p:nvPr>
            <p:ph type="body" idx="1"/>
          </p:nvPr>
        </p:nvSpPr>
        <p:spPr>
          <a:xfrm>
            <a:off x="311700" y="966273"/>
            <a:ext cx="4167431" cy="2931881"/>
          </a:xfrm>
        </p:spPr>
        <p:txBody>
          <a:bodyPr/>
          <a:lstStyle/>
          <a:p>
            <a:r>
              <a:rPr lang="en-US" b="1" dirty="0"/>
              <a:t>Majority Normal Severity:</a:t>
            </a:r>
            <a:r>
              <a:rPr lang="en-US" dirty="0"/>
              <a:t> Most IT tickets fall under the </a:t>
            </a:r>
            <a:r>
              <a:rPr lang="en-US" i="1" dirty="0"/>
              <a:t>Normal</a:t>
            </a:r>
            <a:r>
              <a:rPr lang="en-US" dirty="0"/>
              <a:t> category, representing routine and manageable issues.</a:t>
            </a:r>
          </a:p>
          <a:p>
            <a:r>
              <a:rPr lang="en-US" b="1" dirty="0"/>
              <a:t>Few Critical Cases:</a:t>
            </a:r>
            <a:r>
              <a:rPr lang="en-US" dirty="0"/>
              <a:t> Only a small portion of tickets are classified as </a:t>
            </a:r>
            <a:r>
              <a:rPr lang="en-US" i="1" dirty="0"/>
              <a:t>Major</a:t>
            </a:r>
            <a:r>
              <a:rPr lang="en-US" dirty="0"/>
              <a:t>, </a:t>
            </a:r>
            <a:r>
              <a:rPr lang="en-US" i="1" dirty="0"/>
              <a:t>Minor</a:t>
            </a:r>
            <a:r>
              <a:rPr lang="en-US" dirty="0"/>
              <a:t>, or </a:t>
            </a:r>
            <a:r>
              <a:rPr lang="en-US" i="1" dirty="0"/>
              <a:t>Urgent</a:t>
            </a:r>
            <a:r>
              <a:rPr lang="en-US" dirty="0"/>
              <a:t>, with almost none </a:t>
            </a:r>
            <a:r>
              <a:rPr lang="en-US" i="1" dirty="0"/>
              <a:t>Unclassified</a:t>
            </a:r>
            <a:r>
              <a:rPr lang="en-US" dirty="0"/>
              <a:t>.</a:t>
            </a:r>
          </a:p>
          <a:p>
            <a:r>
              <a:rPr lang="en-US" b="1" dirty="0"/>
              <a:t>Stable IT Environment:</a:t>
            </a:r>
            <a:r>
              <a:rPr lang="en-US" dirty="0"/>
              <a:t> The low volume of severe cases indicates a well-controlled system with minimal high-impact disruptions.</a:t>
            </a:r>
          </a:p>
        </p:txBody>
      </p:sp>
      <p:graphicFrame>
        <p:nvGraphicFramePr>
          <p:cNvPr id="5" name="Chart 4">
            <a:extLst>
              <a:ext uri="{FF2B5EF4-FFF2-40B4-BE49-F238E27FC236}">
                <a16:creationId xmlns:a16="http://schemas.microsoft.com/office/drawing/2014/main" id="{EF7A4841-DC50-4777-A4DD-433C0DC9B0F0}"/>
              </a:ext>
            </a:extLst>
          </p:cNvPr>
          <p:cNvGraphicFramePr>
            <a:graphicFrameLocks/>
          </p:cNvGraphicFramePr>
          <p:nvPr>
            <p:extLst>
              <p:ext uri="{D42A27DB-BD31-4B8C-83A1-F6EECF244321}">
                <p14:modId xmlns:p14="http://schemas.microsoft.com/office/powerpoint/2010/main" val="2868812412"/>
              </p:ext>
            </p:extLst>
          </p:nvPr>
        </p:nvGraphicFramePr>
        <p:xfrm>
          <a:off x="5046111" y="966274"/>
          <a:ext cx="3786189" cy="293188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0703488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7EFC09D-364B-E92E-0CBD-1A66A5324E72}"/>
              </a:ext>
            </a:extLst>
          </p:cNvPr>
          <p:cNvSpPr>
            <a:spLocks noGrp="1"/>
          </p:cNvSpPr>
          <p:nvPr>
            <p:ph type="body" idx="1"/>
          </p:nvPr>
        </p:nvSpPr>
        <p:spPr>
          <a:xfrm>
            <a:off x="311700" y="785813"/>
            <a:ext cx="3931688" cy="3657600"/>
          </a:xfrm>
        </p:spPr>
        <p:txBody>
          <a:bodyPr/>
          <a:lstStyle/>
          <a:p>
            <a:r>
              <a:rPr lang="en-US" b="1" dirty="0"/>
              <a:t>Fast Resolutions:</a:t>
            </a:r>
            <a:r>
              <a:rPr lang="en-US" dirty="0"/>
              <a:t> Most IT tickets are resolved within </a:t>
            </a:r>
            <a:r>
              <a:rPr lang="en-US" b="1" dirty="0"/>
              <a:t>1–3 days</a:t>
            </a:r>
            <a:r>
              <a:rPr lang="en-US" dirty="0"/>
              <a:t>, showing quick response and effective issue handling.</a:t>
            </a:r>
          </a:p>
          <a:p>
            <a:r>
              <a:rPr lang="en-US" b="1" dirty="0"/>
              <a:t>Few Long Delays:</a:t>
            </a:r>
            <a:r>
              <a:rPr lang="en-US" dirty="0"/>
              <a:t> Ticket count decreases as resolution time increases, with </a:t>
            </a:r>
            <a:r>
              <a:rPr lang="en-US" b="1" dirty="0"/>
              <a:t>very few taking over 10 days</a:t>
            </a:r>
            <a:r>
              <a:rPr lang="en-US" dirty="0"/>
              <a:t> to close.</a:t>
            </a:r>
          </a:p>
          <a:p>
            <a:r>
              <a:rPr lang="en-US" b="1" dirty="0"/>
              <a:t>Efficient Support Performance:</a:t>
            </a:r>
            <a:r>
              <a:rPr lang="en-US" dirty="0"/>
              <a:t> The trend highlights an </a:t>
            </a:r>
            <a:r>
              <a:rPr lang="en-US" b="1" dirty="0"/>
              <a:t>efficient IT team</a:t>
            </a:r>
            <a:r>
              <a:rPr lang="en-US" dirty="0"/>
              <a:t> that promptly resolves most issues, with only complex cases taking longer.</a:t>
            </a:r>
          </a:p>
        </p:txBody>
      </p:sp>
      <p:sp>
        <p:nvSpPr>
          <p:cNvPr id="3" name="Title 2">
            <a:extLst>
              <a:ext uri="{FF2B5EF4-FFF2-40B4-BE49-F238E27FC236}">
                <a16:creationId xmlns:a16="http://schemas.microsoft.com/office/drawing/2014/main" id="{4DD08A92-E6BC-C580-EF9B-9CCDD10D51A7}"/>
              </a:ext>
            </a:extLst>
          </p:cNvPr>
          <p:cNvSpPr>
            <a:spLocks noGrp="1"/>
          </p:cNvSpPr>
          <p:nvPr>
            <p:ph type="title"/>
          </p:nvPr>
        </p:nvSpPr>
        <p:spPr>
          <a:xfrm>
            <a:off x="311700" y="288275"/>
            <a:ext cx="8520600" cy="572700"/>
          </a:xfrm>
        </p:spPr>
        <p:txBody>
          <a:bodyPr/>
          <a:lstStyle/>
          <a:p>
            <a:pPr algn="ctr">
              <a:buNone/>
            </a:pPr>
            <a:r>
              <a:rPr lang="en-IN" sz="1600" b="1" dirty="0"/>
              <a:t>Distribution of Tickets Based On Resolution Time</a:t>
            </a:r>
          </a:p>
        </p:txBody>
      </p:sp>
      <p:graphicFrame>
        <p:nvGraphicFramePr>
          <p:cNvPr id="6" name="Chart 5">
            <a:extLst>
              <a:ext uri="{FF2B5EF4-FFF2-40B4-BE49-F238E27FC236}">
                <a16:creationId xmlns:a16="http://schemas.microsoft.com/office/drawing/2014/main" id="{A67B04D4-75BF-42E9-B070-AF913F13B319}"/>
              </a:ext>
            </a:extLst>
          </p:cNvPr>
          <p:cNvGraphicFramePr>
            <a:graphicFrameLocks/>
          </p:cNvGraphicFramePr>
          <p:nvPr>
            <p:extLst>
              <p:ext uri="{D42A27DB-BD31-4B8C-83A1-F6EECF244321}">
                <p14:modId xmlns:p14="http://schemas.microsoft.com/office/powerpoint/2010/main" val="2475622721"/>
              </p:ext>
            </p:extLst>
          </p:nvPr>
        </p:nvGraphicFramePr>
        <p:xfrm>
          <a:off x="4421158" y="994179"/>
          <a:ext cx="4137055" cy="315514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0244142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5F888E2-5F75-B64C-7726-EB6CF83D872E}"/>
              </a:ext>
            </a:extLst>
          </p:cNvPr>
          <p:cNvSpPr>
            <a:spLocks noGrp="1"/>
          </p:cNvSpPr>
          <p:nvPr>
            <p:ph type="title"/>
          </p:nvPr>
        </p:nvSpPr>
        <p:spPr>
          <a:xfrm>
            <a:off x="311700" y="159275"/>
            <a:ext cx="8520600" cy="572700"/>
          </a:xfrm>
        </p:spPr>
        <p:txBody>
          <a:bodyPr/>
          <a:lstStyle/>
          <a:p>
            <a:pPr algn="ctr">
              <a:buNone/>
            </a:pPr>
            <a:r>
              <a:rPr lang="en-IN" sz="1600" b="1" dirty="0"/>
              <a:t>Distribution Of Tickets Based On Satisfaction Rate</a:t>
            </a:r>
          </a:p>
        </p:txBody>
      </p:sp>
      <p:sp>
        <p:nvSpPr>
          <p:cNvPr id="4" name="Text Placeholder 3">
            <a:extLst>
              <a:ext uri="{FF2B5EF4-FFF2-40B4-BE49-F238E27FC236}">
                <a16:creationId xmlns:a16="http://schemas.microsoft.com/office/drawing/2014/main" id="{5451332E-4732-2C9E-B4E8-C3629AE93D91}"/>
              </a:ext>
            </a:extLst>
          </p:cNvPr>
          <p:cNvSpPr>
            <a:spLocks noGrp="1"/>
          </p:cNvSpPr>
          <p:nvPr>
            <p:ph type="body" idx="1"/>
          </p:nvPr>
        </p:nvSpPr>
        <p:spPr>
          <a:xfrm>
            <a:off x="311700" y="1152475"/>
            <a:ext cx="4260300" cy="2983756"/>
          </a:xfrm>
        </p:spPr>
        <p:txBody>
          <a:bodyPr/>
          <a:lstStyle/>
          <a:p>
            <a:r>
              <a:rPr lang="en-US" dirty="0"/>
              <a:t>Most users rated their experience 4 or 5, showing strong approval of IT support services.</a:t>
            </a:r>
          </a:p>
          <a:p>
            <a:r>
              <a:rPr lang="en-US" dirty="0"/>
              <a:t>Very few tickets received low scores (</a:t>
            </a:r>
            <a:r>
              <a:rPr lang="en-US" b="1" dirty="0"/>
              <a:t>1 or 2</a:t>
            </a:r>
            <a:r>
              <a:rPr lang="en-US" dirty="0"/>
              <a:t>), indicating minimal dissatisfaction.</a:t>
            </a:r>
          </a:p>
          <a:p>
            <a:r>
              <a:rPr lang="en-US" dirty="0"/>
              <a:t>Overall feedback reflects a </a:t>
            </a:r>
            <a:r>
              <a:rPr lang="en-US" b="1" dirty="0"/>
              <a:t>high-performing IT team</a:t>
            </a:r>
            <a:r>
              <a:rPr lang="en-US" dirty="0"/>
              <a:t> delivering reliable and effective support.</a:t>
            </a:r>
            <a:endParaRPr lang="en-IN" dirty="0"/>
          </a:p>
        </p:txBody>
      </p:sp>
      <p:graphicFrame>
        <p:nvGraphicFramePr>
          <p:cNvPr id="5" name="Chart 4">
            <a:extLst>
              <a:ext uri="{FF2B5EF4-FFF2-40B4-BE49-F238E27FC236}">
                <a16:creationId xmlns:a16="http://schemas.microsoft.com/office/drawing/2014/main" id="{3417B277-020F-4899-939A-D1588F0617BC}"/>
              </a:ext>
            </a:extLst>
          </p:cNvPr>
          <p:cNvGraphicFramePr>
            <a:graphicFrameLocks/>
          </p:cNvGraphicFramePr>
          <p:nvPr>
            <p:extLst>
              <p:ext uri="{D42A27DB-BD31-4B8C-83A1-F6EECF244321}">
                <p14:modId xmlns:p14="http://schemas.microsoft.com/office/powerpoint/2010/main" val="599209977"/>
              </p:ext>
            </p:extLst>
          </p:nvPr>
        </p:nvGraphicFramePr>
        <p:xfrm>
          <a:off x="4779168" y="988670"/>
          <a:ext cx="4506217" cy="326900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9939301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8F412-8535-02AB-2DC0-556756924B84}"/>
              </a:ext>
            </a:extLst>
          </p:cNvPr>
          <p:cNvSpPr>
            <a:spLocks noGrp="1"/>
          </p:cNvSpPr>
          <p:nvPr>
            <p:ph type="title"/>
          </p:nvPr>
        </p:nvSpPr>
        <p:spPr>
          <a:xfrm>
            <a:off x="311700" y="0"/>
            <a:ext cx="8520600" cy="572700"/>
          </a:xfrm>
        </p:spPr>
        <p:txBody>
          <a:bodyPr/>
          <a:lstStyle/>
          <a:p>
            <a:pPr algn="ctr">
              <a:buNone/>
            </a:pPr>
            <a:r>
              <a:rPr lang="en-IN" b="1" dirty="0"/>
              <a:t>Training Requirement For Agents</a:t>
            </a:r>
          </a:p>
        </p:txBody>
      </p:sp>
      <p:sp>
        <p:nvSpPr>
          <p:cNvPr id="3" name="Text Placeholder 2">
            <a:extLst>
              <a:ext uri="{FF2B5EF4-FFF2-40B4-BE49-F238E27FC236}">
                <a16:creationId xmlns:a16="http://schemas.microsoft.com/office/drawing/2014/main" id="{2D7FF401-BF4B-FFED-78F0-CAC66A42D561}"/>
              </a:ext>
            </a:extLst>
          </p:cNvPr>
          <p:cNvSpPr>
            <a:spLocks noGrp="1"/>
          </p:cNvSpPr>
          <p:nvPr>
            <p:ph type="body" idx="1"/>
          </p:nvPr>
        </p:nvSpPr>
        <p:spPr>
          <a:xfrm>
            <a:off x="0" y="1116758"/>
            <a:ext cx="8520600" cy="962074"/>
          </a:xfrm>
        </p:spPr>
        <p:txBody>
          <a:bodyPr/>
          <a:lstStyle/>
          <a:p>
            <a:r>
              <a:rPr lang="en-IN" dirty="0"/>
              <a:t>Agents with resolution time more than the average resolution time and satisfaction rate less than the average needs additional training. Agents with IDs </a:t>
            </a:r>
            <a:r>
              <a:rPr lang="en-IN" b="1" dirty="0"/>
              <a:t>3, 9, 11, 41, 22, 28, 33, and 19</a:t>
            </a:r>
            <a:r>
              <a:rPr lang="en-IN" dirty="0"/>
              <a:t> fall in this range.</a:t>
            </a:r>
            <a:r>
              <a:rPr lang="en-US" dirty="0"/>
              <a:t> The chart shows trends in resolution time, satisfaction rate, and ticket volume over the years. While the number of tickets has steadily increased, the average resolution time has not improved significantly, remaining around 4–5 days. The satisfaction rate has also stayed nearly constant, suggesting that higher workloads may be affecting service quality.</a:t>
            </a:r>
          </a:p>
          <a:p>
            <a:r>
              <a:rPr lang="en-US" dirty="0"/>
              <a:t>This indicates a need for agent training to improve efficiency in resolving tickets faster and enhancing user satisfaction. Focused training on technical skills, prioritization, and time management can help agents handle the growing ticket volume more effectively and boost overall service performance.</a:t>
            </a:r>
          </a:p>
          <a:p>
            <a:pPr marL="139700" indent="0">
              <a:buNone/>
            </a:pPr>
            <a:endParaRPr lang="en-IN" dirty="0"/>
          </a:p>
        </p:txBody>
      </p:sp>
      <p:graphicFrame>
        <p:nvGraphicFramePr>
          <p:cNvPr id="4" name="Chart 3">
            <a:extLst>
              <a:ext uri="{FF2B5EF4-FFF2-40B4-BE49-F238E27FC236}">
                <a16:creationId xmlns:a16="http://schemas.microsoft.com/office/drawing/2014/main" id="{6AC29EE7-85B6-421A-A655-3CBA4F739C1C}"/>
              </a:ext>
            </a:extLst>
          </p:cNvPr>
          <p:cNvGraphicFramePr>
            <a:graphicFrameLocks/>
          </p:cNvGraphicFramePr>
          <p:nvPr>
            <p:extLst>
              <p:ext uri="{D42A27DB-BD31-4B8C-83A1-F6EECF244321}">
                <p14:modId xmlns:p14="http://schemas.microsoft.com/office/powerpoint/2010/main" val="4081239856"/>
              </p:ext>
            </p:extLst>
          </p:nvPr>
        </p:nvGraphicFramePr>
        <p:xfrm>
          <a:off x="1761693" y="2571749"/>
          <a:ext cx="5463449" cy="193833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271841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E26BF98-B6EC-BA18-1CB2-4099BC61896B}"/>
              </a:ext>
            </a:extLst>
          </p:cNvPr>
          <p:cNvSpPr>
            <a:spLocks noGrp="1"/>
          </p:cNvSpPr>
          <p:nvPr>
            <p:ph type="title"/>
          </p:nvPr>
        </p:nvSpPr>
        <p:spPr>
          <a:xfrm>
            <a:off x="490250" y="678656"/>
            <a:ext cx="8432294" cy="3786188"/>
          </a:xfrm>
        </p:spPr>
        <p:txBody>
          <a:bodyPr/>
          <a:lstStyle/>
          <a:p>
            <a:pPr>
              <a:buNone/>
            </a:pPr>
            <a:br>
              <a:rPr lang="en-IN" sz="500" dirty="0"/>
            </a:br>
            <a:br>
              <a:rPr lang="en-IN" sz="500" dirty="0"/>
            </a:br>
            <a:br>
              <a:rPr lang="en-IN" sz="500" dirty="0"/>
            </a:br>
            <a:br>
              <a:rPr lang="en-IN" sz="500" dirty="0"/>
            </a:br>
            <a:br>
              <a:rPr lang="en-IN" sz="500" dirty="0"/>
            </a:br>
            <a:br>
              <a:rPr lang="en-IN" sz="500" dirty="0"/>
            </a:br>
            <a:br>
              <a:rPr lang="en-IN" sz="500" dirty="0"/>
            </a:br>
            <a:br>
              <a:rPr lang="en-IN" sz="500" dirty="0"/>
            </a:br>
            <a:br>
              <a:rPr lang="en-IN" sz="500" dirty="0"/>
            </a:br>
            <a:br>
              <a:rPr lang="en-IN" sz="500" dirty="0"/>
            </a:br>
            <a:br>
              <a:rPr lang="en-IN" sz="500" dirty="0"/>
            </a:br>
            <a:br>
              <a:rPr lang="en-IN" sz="500" dirty="0"/>
            </a:br>
            <a:br>
              <a:rPr lang="en-IN" sz="500" dirty="0"/>
            </a:br>
            <a:br>
              <a:rPr lang="en-IN" sz="500" dirty="0"/>
            </a:br>
            <a:br>
              <a:rPr lang="en-IN" sz="500" dirty="0"/>
            </a:br>
            <a:br>
              <a:rPr lang="en-IN" sz="500" dirty="0"/>
            </a:br>
            <a:br>
              <a:rPr lang="en-IN" sz="500" dirty="0"/>
            </a:br>
            <a:br>
              <a:rPr lang="en-IN" sz="500" dirty="0"/>
            </a:br>
            <a:br>
              <a:rPr lang="en-IN" sz="500" dirty="0"/>
            </a:br>
            <a:br>
              <a:rPr lang="en-IN" sz="500" dirty="0"/>
            </a:br>
            <a:br>
              <a:rPr lang="en-IN" sz="500" dirty="0"/>
            </a:br>
            <a:br>
              <a:rPr lang="en-IN" sz="500" dirty="0"/>
            </a:br>
            <a:br>
              <a:rPr lang="en-IN" sz="500" dirty="0"/>
            </a:br>
            <a:br>
              <a:rPr lang="en-IN" sz="500" dirty="0"/>
            </a:br>
            <a:br>
              <a:rPr lang="en-IN" sz="500" dirty="0"/>
            </a:br>
            <a:br>
              <a:rPr lang="en-IN" sz="500" dirty="0"/>
            </a:br>
            <a:br>
              <a:rPr lang="en-IN" sz="500" dirty="0"/>
            </a:br>
            <a:br>
              <a:rPr lang="en-IN" sz="500" dirty="0"/>
            </a:br>
            <a:br>
              <a:rPr lang="en-IN" sz="500" dirty="0"/>
            </a:br>
            <a:br>
              <a:rPr lang="en-IN" sz="500" dirty="0"/>
            </a:br>
            <a:br>
              <a:rPr lang="en-IN" sz="500" dirty="0"/>
            </a:br>
            <a:br>
              <a:rPr lang="en-IN" sz="500" dirty="0"/>
            </a:br>
            <a:br>
              <a:rPr lang="en-IN" sz="500" dirty="0"/>
            </a:br>
            <a:br>
              <a:rPr lang="en-IN" sz="500" dirty="0"/>
            </a:br>
            <a:br>
              <a:rPr lang="en-IN" sz="500" dirty="0"/>
            </a:br>
            <a:br>
              <a:rPr lang="en-IN" sz="500" dirty="0"/>
            </a:br>
            <a:r>
              <a:rPr lang="en-US" sz="1400" dirty="0"/>
              <a:t>From </a:t>
            </a:r>
            <a:r>
              <a:rPr lang="en-US" sz="1400" b="1" dirty="0"/>
              <a:t>2016–2020</a:t>
            </a:r>
            <a:r>
              <a:rPr lang="en-US" sz="1400" dirty="0"/>
              <a:t>, both resolution time and satisfaction rate remained stable, showing dependable IT support operations.</a:t>
            </a:r>
            <a:br>
              <a:rPr lang="en-US" sz="1400" dirty="0"/>
            </a:br>
            <a:r>
              <a:rPr lang="en-US" sz="1400" dirty="0"/>
              <a:t>Average resolution time stayed between </a:t>
            </a:r>
            <a:r>
              <a:rPr lang="en-US" sz="1400" b="1" dirty="0"/>
              <a:t>4.4–4.8 days</a:t>
            </a:r>
            <a:r>
              <a:rPr lang="en-US" sz="1400" dirty="0"/>
              <a:t>, indicating consistency but limited improvement in speed.</a:t>
            </a:r>
            <a:br>
              <a:rPr lang="en-US" sz="1400" dirty="0"/>
            </a:br>
            <a:r>
              <a:rPr lang="en-US" sz="1400" dirty="0"/>
              <a:t>Satisfaction rates gradually improved to </a:t>
            </a:r>
            <a:r>
              <a:rPr lang="en-US" sz="1400" b="1" dirty="0"/>
              <a:t>4.1–4.2</a:t>
            </a:r>
            <a:r>
              <a:rPr lang="en-US" sz="1400" dirty="0"/>
              <a:t> by 2019–2020, reflecting steady enhancement in user experience.</a:t>
            </a:r>
            <a:br>
              <a:rPr lang="en-IN" sz="1400" dirty="0"/>
            </a:br>
            <a:br>
              <a:rPr lang="en-IN" sz="1400" dirty="0"/>
            </a:br>
            <a:br>
              <a:rPr lang="en-IN" sz="500" dirty="0"/>
            </a:br>
            <a:br>
              <a:rPr lang="en-IN" sz="500" dirty="0"/>
            </a:br>
            <a:endParaRPr lang="en-IN" sz="500" dirty="0"/>
          </a:p>
        </p:txBody>
      </p:sp>
      <p:graphicFrame>
        <p:nvGraphicFramePr>
          <p:cNvPr id="4" name="Chart 3">
            <a:extLst>
              <a:ext uri="{FF2B5EF4-FFF2-40B4-BE49-F238E27FC236}">
                <a16:creationId xmlns:a16="http://schemas.microsoft.com/office/drawing/2014/main" id="{4BE36F63-910D-0E21-D4A0-3A174225F777}"/>
              </a:ext>
            </a:extLst>
          </p:cNvPr>
          <p:cNvGraphicFramePr/>
          <p:nvPr>
            <p:extLst>
              <p:ext uri="{D42A27DB-BD31-4B8C-83A1-F6EECF244321}">
                <p14:modId xmlns:p14="http://schemas.microsoft.com/office/powerpoint/2010/main" val="848866691"/>
              </p:ext>
            </p:extLst>
          </p:nvPr>
        </p:nvGraphicFramePr>
        <p:xfrm>
          <a:off x="1914525" y="938212"/>
          <a:ext cx="5314950" cy="2226469"/>
        </p:xfrm>
        <a:graphic>
          <a:graphicData uri="http://schemas.openxmlformats.org/drawingml/2006/chart">
            <c:chart xmlns:c="http://schemas.openxmlformats.org/drawingml/2006/chart" xmlns:r="http://schemas.openxmlformats.org/officeDocument/2006/relationships" r:id="rId2"/>
          </a:graphicData>
        </a:graphic>
      </p:graphicFrame>
      <p:sp>
        <p:nvSpPr>
          <p:cNvPr id="2" name="TextBox 1">
            <a:extLst>
              <a:ext uri="{FF2B5EF4-FFF2-40B4-BE49-F238E27FC236}">
                <a16:creationId xmlns:a16="http://schemas.microsoft.com/office/drawing/2014/main" id="{1309DF5C-5D11-8088-2D0D-71786187E5BB}"/>
              </a:ext>
            </a:extLst>
          </p:cNvPr>
          <p:cNvSpPr txBox="1"/>
          <p:nvPr/>
        </p:nvSpPr>
        <p:spPr>
          <a:xfrm>
            <a:off x="407194" y="128588"/>
            <a:ext cx="8258175" cy="369332"/>
          </a:xfrm>
          <a:prstGeom prst="rect">
            <a:avLst/>
          </a:prstGeom>
          <a:noFill/>
          <a:ln>
            <a:noFill/>
          </a:ln>
        </p:spPr>
        <p:txBody>
          <a:bodyPr wrap="square" rtlCol="0">
            <a:spAutoFit/>
          </a:bodyPr>
          <a:lstStyle/>
          <a:p>
            <a:pPr algn="ctr"/>
            <a:r>
              <a:rPr lang="en-IN" b="1" dirty="0">
                <a:latin typeface="Arial" panose="020B0604020202020204" pitchFamily="34" charset="0"/>
                <a:cs typeface="Arial" panose="020B0604020202020204" pitchFamily="34" charset="0"/>
              </a:rPr>
              <a:t>IT Support Team Performance Over Years</a:t>
            </a:r>
          </a:p>
        </p:txBody>
      </p:sp>
    </p:spTree>
    <p:extLst>
      <p:ext uri="{BB962C8B-B14F-4D97-AF65-F5344CB8AC3E}">
        <p14:creationId xmlns:p14="http://schemas.microsoft.com/office/powerpoint/2010/main" val="23947844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69A818B-7A74-1701-1645-821C45E22188}"/>
              </a:ext>
            </a:extLst>
          </p:cNvPr>
          <p:cNvSpPr>
            <a:spLocks noGrp="1"/>
          </p:cNvSpPr>
          <p:nvPr>
            <p:ph type="title"/>
          </p:nvPr>
        </p:nvSpPr>
        <p:spPr>
          <a:xfrm>
            <a:off x="311700" y="166418"/>
            <a:ext cx="8520600" cy="572700"/>
          </a:xfrm>
        </p:spPr>
        <p:txBody>
          <a:bodyPr/>
          <a:lstStyle/>
          <a:p>
            <a:pPr algn="ctr">
              <a:buNone/>
            </a:pPr>
            <a:r>
              <a:rPr lang="en-IN" sz="1600" b="1" dirty="0"/>
              <a:t>Satisfaction Rate By Age Group</a:t>
            </a:r>
          </a:p>
        </p:txBody>
      </p:sp>
      <p:sp>
        <p:nvSpPr>
          <p:cNvPr id="4" name="Text Placeholder 3">
            <a:extLst>
              <a:ext uri="{FF2B5EF4-FFF2-40B4-BE49-F238E27FC236}">
                <a16:creationId xmlns:a16="http://schemas.microsoft.com/office/drawing/2014/main" id="{CA15798F-C72C-438E-27BB-41F2493D8019}"/>
              </a:ext>
            </a:extLst>
          </p:cNvPr>
          <p:cNvSpPr>
            <a:spLocks noGrp="1"/>
          </p:cNvSpPr>
          <p:nvPr>
            <p:ph type="body" idx="1"/>
          </p:nvPr>
        </p:nvSpPr>
        <p:spPr>
          <a:xfrm>
            <a:off x="233119" y="602406"/>
            <a:ext cx="4746075" cy="3869582"/>
          </a:xfrm>
        </p:spPr>
        <p:txBody>
          <a:bodyPr/>
          <a:lstStyle/>
          <a:p>
            <a:r>
              <a:rPr lang="en-US" dirty="0"/>
              <a:t>The chart shows </a:t>
            </a:r>
            <a:r>
              <a:rPr lang="en-US" b="1" dirty="0"/>
              <a:t>average satisfaction rates</a:t>
            </a:r>
            <a:r>
              <a:rPr lang="en-US" dirty="0"/>
              <a:t> across different age groups, ranging roughly between </a:t>
            </a:r>
            <a:r>
              <a:rPr lang="en-US" b="1" dirty="0"/>
              <a:t>2.7 and 5</a:t>
            </a:r>
            <a:r>
              <a:rPr lang="en-US" dirty="0"/>
              <a:t>.</a:t>
            </a:r>
          </a:p>
          <a:p>
            <a:r>
              <a:rPr lang="en-US" dirty="0"/>
              <a:t>Most age groups report </a:t>
            </a:r>
            <a:r>
              <a:rPr lang="en-US" b="1" dirty="0"/>
              <a:t>high satisfaction (around 4–5)</a:t>
            </a:r>
            <a:r>
              <a:rPr lang="en-US" dirty="0"/>
              <a:t>, with only a few groups showing lower values, such as </a:t>
            </a:r>
            <a:r>
              <a:rPr lang="en-US" b="1" dirty="0"/>
              <a:t>35–37</a:t>
            </a:r>
            <a:r>
              <a:rPr lang="en-US" dirty="0"/>
              <a:t> and </a:t>
            </a:r>
            <a:r>
              <a:rPr lang="en-US" b="1" dirty="0"/>
              <a:t>41–43</a:t>
            </a:r>
            <a:r>
              <a:rPr lang="en-US" dirty="0"/>
              <a:t>.</a:t>
            </a:r>
          </a:p>
          <a:p>
            <a:r>
              <a:rPr lang="en-US" dirty="0"/>
              <a:t>Overall, satisfaction remains </a:t>
            </a:r>
            <a:r>
              <a:rPr lang="en-US" b="1" dirty="0"/>
              <a:t>fairly consistent</a:t>
            </a:r>
            <a:r>
              <a:rPr lang="en-US" dirty="0"/>
              <a:t>, with only minor fluctuations across age ranges.</a:t>
            </a:r>
          </a:p>
          <a:p>
            <a:pPr marL="139700" indent="0">
              <a:buNone/>
            </a:pPr>
            <a:endParaRPr lang="en-IN" dirty="0"/>
          </a:p>
        </p:txBody>
      </p:sp>
      <p:graphicFrame>
        <p:nvGraphicFramePr>
          <p:cNvPr id="2" name="Chart 1">
            <a:extLst>
              <a:ext uri="{FF2B5EF4-FFF2-40B4-BE49-F238E27FC236}">
                <a16:creationId xmlns:a16="http://schemas.microsoft.com/office/drawing/2014/main" id="{F92817A4-5327-41A8-AF9C-72A7FC843DA0}"/>
              </a:ext>
            </a:extLst>
          </p:cNvPr>
          <p:cNvGraphicFramePr>
            <a:graphicFrameLocks/>
          </p:cNvGraphicFramePr>
          <p:nvPr>
            <p:extLst>
              <p:ext uri="{D42A27DB-BD31-4B8C-83A1-F6EECF244321}">
                <p14:modId xmlns:p14="http://schemas.microsoft.com/office/powerpoint/2010/main" val="1196801960"/>
              </p:ext>
            </p:extLst>
          </p:nvPr>
        </p:nvGraphicFramePr>
        <p:xfrm>
          <a:off x="4979193" y="1119831"/>
          <a:ext cx="4021931" cy="284495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9213505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D6D62-13F2-9651-0212-7E4B03FA5509}"/>
              </a:ext>
            </a:extLst>
          </p:cNvPr>
          <p:cNvSpPr>
            <a:spLocks noGrp="1"/>
          </p:cNvSpPr>
          <p:nvPr>
            <p:ph type="title"/>
          </p:nvPr>
        </p:nvSpPr>
        <p:spPr>
          <a:xfrm>
            <a:off x="490250" y="521494"/>
            <a:ext cx="8489444" cy="5429250"/>
          </a:xfrm>
        </p:spPr>
        <p:txBody>
          <a:bodyPr/>
          <a:lstStyle/>
          <a:p>
            <a:pPr lvl="0">
              <a:buNone/>
            </a:pPr>
            <a:br>
              <a:rPr lang="en-IN" sz="1400" b="1" dirty="0"/>
            </a:br>
            <a:br>
              <a:rPr lang="en-IN" sz="1400" dirty="0"/>
            </a:br>
            <a:r>
              <a:rPr lang="en-IN" sz="1400" b="1" dirty="0"/>
              <a:t>1. Ticket Management:</a:t>
            </a:r>
            <a:br>
              <a:rPr lang="en-IN" sz="1400" b="1" dirty="0"/>
            </a:br>
            <a:br>
              <a:rPr lang="en-IN" sz="1400" dirty="0"/>
            </a:br>
            <a:r>
              <a:rPr lang="en-IN" sz="1400" dirty="0"/>
              <a:t>Total Tickets Logged (count of </a:t>
            </a:r>
            <a:r>
              <a:rPr lang="en-IN" sz="1400" dirty="0" err="1"/>
              <a:t>Ticket_ID</a:t>
            </a:r>
            <a:r>
              <a:rPr lang="en-IN" sz="1400" dirty="0"/>
              <a:t>)</a:t>
            </a:r>
            <a:br>
              <a:rPr lang="en-IN" sz="1400" dirty="0"/>
            </a:br>
            <a:r>
              <a:rPr lang="en-IN" sz="1400" dirty="0"/>
              <a:t>Average Daily Ticket Volume (tickets/day)</a:t>
            </a:r>
            <a:br>
              <a:rPr lang="en-IN" sz="1400" dirty="0"/>
            </a:br>
            <a:r>
              <a:rPr lang="en-IN" sz="1400" dirty="0"/>
              <a:t>Ticket Volume Trend Over Time (line chart, monthly/quarterly)</a:t>
            </a:r>
            <a:br>
              <a:rPr lang="en-IN" sz="1400" dirty="0"/>
            </a:br>
            <a:r>
              <a:rPr lang="en-IN" sz="1400" dirty="0"/>
              <a:t>Ticket Category Distribution (bar/pie: Login, System, Software, etc.)</a:t>
            </a:r>
            <a:br>
              <a:rPr lang="en-IN" sz="1400" dirty="0"/>
            </a:br>
            <a:r>
              <a:rPr lang="en-IN" sz="1400" dirty="0"/>
              <a:t>Issue Type Distribution (IT Error, IT Request, etc.)</a:t>
            </a:r>
            <a:br>
              <a:rPr lang="en-IN" sz="1400" dirty="0"/>
            </a:br>
            <a:r>
              <a:rPr lang="en-IN" sz="1400" dirty="0"/>
              <a:t>Severity &amp; Priority Mix (stacked bar chart)</a:t>
            </a:r>
            <a:br>
              <a:rPr lang="en-IN" sz="1400" dirty="0"/>
            </a:br>
            <a:r>
              <a:rPr lang="en-IN" sz="1400" dirty="0"/>
              <a:t>Helps identify workload patterns &amp; peak demand periods.</a:t>
            </a:r>
            <a:br>
              <a:rPr lang="en-IN" sz="1400" dirty="0"/>
            </a:br>
            <a:r>
              <a:rPr lang="en-IN" sz="1400" dirty="0"/>
              <a:t>Average Resolution Time per Agent (compare against team average)</a:t>
            </a:r>
            <a:br>
              <a:rPr lang="en-IN" sz="1400" dirty="0"/>
            </a:br>
            <a:r>
              <a:rPr lang="en-IN" sz="1400" dirty="0"/>
              <a:t>Satisfaction Rate per Agent (heatmap or bar chart)</a:t>
            </a:r>
            <a:br>
              <a:rPr lang="en-IN" sz="1400" dirty="0"/>
            </a:br>
            <a:r>
              <a:rPr lang="en-IN" sz="1400" dirty="0"/>
              <a:t>Training Needs Flag (Yes/No → agents below satisfaction and above resolution average)</a:t>
            </a:r>
            <a:br>
              <a:rPr lang="en-IN" sz="1400" dirty="0"/>
            </a:br>
            <a:r>
              <a:rPr lang="en-IN" sz="1400" dirty="0"/>
              <a:t>Helps assess productivity &amp; identify training or resource gaps.</a:t>
            </a:r>
            <a:br>
              <a:rPr lang="en-IN" sz="1400" dirty="0"/>
            </a:br>
            <a:br>
              <a:rPr lang="en-IN" sz="1400" dirty="0"/>
            </a:br>
            <a:r>
              <a:rPr lang="en-IN" sz="1400" b="1" dirty="0"/>
              <a:t>2. Agent Performance (Workforce View)</a:t>
            </a:r>
            <a:br>
              <a:rPr lang="en-IN" sz="1400" dirty="0"/>
            </a:br>
            <a:r>
              <a:rPr lang="en-IN" sz="1400" dirty="0"/>
              <a:t>Tickets Handled per Agent (bar chart)</a:t>
            </a:r>
            <a:br>
              <a:rPr lang="en-IN" sz="1400" dirty="0"/>
            </a:br>
            <a:br>
              <a:rPr lang="en-IN" sz="1400" dirty="0"/>
            </a:br>
            <a:br>
              <a:rPr lang="en-IN" sz="1400" dirty="0"/>
            </a:br>
            <a:r>
              <a:rPr lang="en-IN" sz="1400" dirty="0"/>
              <a:t> </a:t>
            </a:r>
            <a:br>
              <a:rPr lang="en-IN" sz="1400" dirty="0"/>
            </a:br>
            <a:br>
              <a:rPr lang="en-IN" sz="1400" dirty="0"/>
            </a:br>
            <a:br>
              <a:rPr lang="en-IN" sz="1400" dirty="0"/>
            </a:br>
            <a:endParaRPr lang="en-IN" sz="1400" dirty="0"/>
          </a:p>
        </p:txBody>
      </p:sp>
      <p:sp>
        <p:nvSpPr>
          <p:cNvPr id="4" name="TextBox 3">
            <a:extLst>
              <a:ext uri="{FF2B5EF4-FFF2-40B4-BE49-F238E27FC236}">
                <a16:creationId xmlns:a16="http://schemas.microsoft.com/office/drawing/2014/main" id="{10541011-7A96-3039-9FBA-2028F6D38F68}"/>
              </a:ext>
            </a:extLst>
          </p:cNvPr>
          <p:cNvSpPr txBox="1"/>
          <p:nvPr/>
        </p:nvSpPr>
        <p:spPr>
          <a:xfrm>
            <a:off x="367903" y="185738"/>
            <a:ext cx="8408194" cy="461665"/>
          </a:xfrm>
          <a:prstGeom prst="rect">
            <a:avLst/>
          </a:prstGeom>
          <a:noFill/>
          <a:ln>
            <a:noFill/>
          </a:ln>
        </p:spPr>
        <p:txBody>
          <a:bodyPr wrap="square" rtlCol="0">
            <a:spAutoFit/>
          </a:bodyPr>
          <a:lstStyle/>
          <a:p>
            <a:pPr algn="ctr"/>
            <a:r>
              <a:rPr lang="en-IN" sz="2400" b="1" dirty="0">
                <a:latin typeface="Arial" panose="020B0604020202020204" pitchFamily="34" charset="0"/>
                <a:cs typeface="Arial" panose="020B0604020202020204" pitchFamily="34" charset="0"/>
              </a:rPr>
              <a:t>Metrics to be Considered For Final Dashboard</a:t>
            </a:r>
          </a:p>
        </p:txBody>
      </p:sp>
    </p:spTree>
    <p:extLst>
      <p:ext uri="{BB962C8B-B14F-4D97-AF65-F5344CB8AC3E}">
        <p14:creationId xmlns:p14="http://schemas.microsoft.com/office/powerpoint/2010/main" val="31546351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AB459-F62E-3729-C6AA-30F8BEFA1699}"/>
              </a:ext>
            </a:extLst>
          </p:cNvPr>
          <p:cNvSpPr>
            <a:spLocks noGrp="1"/>
          </p:cNvSpPr>
          <p:nvPr>
            <p:ph type="title"/>
          </p:nvPr>
        </p:nvSpPr>
        <p:spPr>
          <a:xfrm>
            <a:off x="490250" y="0"/>
            <a:ext cx="6367800" cy="4090800"/>
          </a:xfrm>
        </p:spPr>
        <p:txBody>
          <a:bodyPr/>
          <a:lstStyle/>
          <a:p>
            <a:pPr>
              <a:buNone/>
            </a:pPr>
            <a:r>
              <a:rPr lang="en-IN" sz="1400" dirty="0"/>
              <a:t> </a:t>
            </a:r>
            <a:br>
              <a:rPr lang="en-IN" sz="1400" dirty="0"/>
            </a:br>
            <a:r>
              <a:rPr lang="en-IN" sz="1400" dirty="0"/>
              <a:t> </a:t>
            </a:r>
            <a:br>
              <a:rPr lang="en-IN" sz="1400" dirty="0"/>
            </a:br>
            <a:r>
              <a:rPr lang="en-IN" sz="1400" b="1" dirty="0"/>
              <a:t>3. Service Quality (Customer View)</a:t>
            </a:r>
            <a:br>
              <a:rPr lang="en-IN" sz="1400" dirty="0"/>
            </a:br>
            <a:r>
              <a:rPr lang="en-IN" sz="1400" dirty="0"/>
              <a:t> </a:t>
            </a:r>
            <a:br>
              <a:rPr lang="en-IN" sz="1400" dirty="0"/>
            </a:br>
            <a:r>
              <a:rPr lang="en-IN" sz="1400" dirty="0"/>
              <a:t>Average Resolution Time (overall trend)</a:t>
            </a:r>
            <a:br>
              <a:rPr lang="en-IN" sz="1400" dirty="0"/>
            </a:br>
            <a:r>
              <a:rPr lang="en-IN" sz="1400" dirty="0"/>
              <a:t>Average Satisfaction Rate (trend + distribution)</a:t>
            </a:r>
            <a:br>
              <a:rPr lang="en-IN" sz="1400" dirty="0"/>
            </a:br>
            <a:r>
              <a:rPr lang="en-IN" sz="1400" dirty="0"/>
              <a:t>Correlation: Severity vs. Resolution Time (scatter chart)</a:t>
            </a:r>
            <a:br>
              <a:rPr lang="en-IN" sz="1400" dirty="0"/>
            </a:br>
            <a:r>
              <a:rPr lang="en-IN" sz="1400" dirty="0"/>
              <a:t>Satisfaction Trend Over Time (line chart with threshold, e.g., &lt;80% flagged)</a:t>
            </a:r>
            <a:br>
              <a:rPr lang="en-IN" sz="1400" dirty="0"/>
            </a:br>
            <a:r>
              <a:rPr lang="en-IN" sz="1400" dirty="0"/>
              <a:t>Helps monitor how well IT is serving employees.</a:t>
            </a:r>
            <a:br>
              <a:rPr lang="en-IN" sz="1400" dirty="0"/>
            </a:br>
            <a:r>
              <a:rPr lang="en-IN" sz="1400" dirty="0"/>
              <a:t> </a:t>
            </a:r>
            <a:br>
              <a:rPr lang="en-IN" sz="1400" dirty="0"/>
            </a:br>
            <a:r>
              <a:rPr lang="en-IN" sz="1400" b="1" dirty="0"/>
              <a:t>4. Strategic / Investment Decision Metrics</a:t>
            </a:r>
            <a:br>
              <a:rPr lang="en-IN" sz="1400" dirty="0"/>
            </a:br>
            <a:r>
              <a:rPr lang="en-IN" sz="1400" dirty="0"/>
              <a:t>Peak vs. Stable Periods (ticket volumes + satisfaction trends)</a:t>
            </a:r>
            <a:br>
              <a:rPr lang="en-IN" sz="1400" dirty="0"/>
            </a:br>
            <a:r>
              <a:rPr lang="en-IN" sz="1400" dirty="0"/>
              <a:t>Cost-Benefit Indicators:</a:t>
            </a:r>
            <a:br>
              <a:rPr lang="en-IN" sz="1400" dirty="0"/>
            </a:br>
            <a:r>
              <a:rPr lang="en-IN" sz="1400" dirty="0"/>
              <a:t>If hiring more agents → compare resolution time vs. volume spikes</a:t>
            </a:r>
            <a:br>
              <a:rPr lang="en-IN" sz="1400" dirty="0"/>
            </a:br>
            <a:r>
              <a:rPr lang="en-IN" sz="1400" dirty="0"/>
              <a:t>If training → compare flagged agents vs. improvement opportunities</a:t>
            </a:r>
            <a:br>
              <a:rPr lang="en-IN" sz="1400" dirty="0"/>
            </a:br>
            <a:r>
              <a:rPr lang="en-IN" sz="1400" dirty="0"/>
              <a:t>If upgrading tools → compare pre/post implementation trends (if data available)</a:t>
            </a:r>
          </a:p>
        </p:txBody>
      </p:sp>
    </p:spTree>
    <p:extLst>
      <p:ext uri="{BB962C8B-B14F-4D97-AF65-F5344CB8AC3E}">
        <p14:creationId xmlns:p14="http://schemas.microsoft.com/office/powerpoint/2010/main" val="5753012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55809-A3F2-AF0B-6BA2-AC886D295457}"/>
              </a:ext>
            </a:extLst>
          </p:cNvPr>
          <p:cNvSpPr>
            <a:spLocks noGrp="1"/>
          </p:cNvSpPr>
          <p:nvPr>
            <p:ph type="title"/>
          </p:nvPr>
        </p:nvSpPr>
        <p:spPr>
          <a:xfrm>
            <a:off x="311700" y="130700"/>
            <a:ext cx="8520600" cy="572700"/>
          </a:xfrm>
        </p:spPr>
        <p:txBody>
          <a:bodyPr/>
          <a:lstStyle/>
          <a:p>
            <a:pPr>
              <a:buNone/>
            </a:pPr>
            <a:r>
              <a:rPr lang="en-IN" sz="2400" b="1" dirty="0"/>
              <a:t>INSIGHTS</a:t>
            </a:r>
          </a:p>
        </p:txBody>
      </p:sp>
      <p:sp>
        <p:nvSpPr>
          <p:cNvPr id="3" name="Text Placeholder 2">
            <a:extLst>
              <a:ext uri="{FF2B5EF4-FFF2-40B4-BE49-F238E27FC236}">
                <a16:creationId xmlns:a16="http://schemas.microsoft.com/office/drawing/2014/main" id="{17E81CE7-4F4E-5815-23CC-5A665594FE4A}"/>
              </a:ext>
            </a:extLst>
          </p:cNvPr>
          <p:cNvSpPr>
            <a:spLocks noGrp="1"/>
          </p:cNvSpPr>
          <p:nvPr>
            <p:ph type="body" idx="1"/>
          </p:nvPr>
        </p:nvSpPr>
        <p:spPr>
          <a:xfrm>
            <a:off x="311700" y="1231057"/>
            <a:ext cx="8520600" cy="3416400"/>
          </a:xfrm>
        </p:spPr>
        <p:txBody>
          <a:bodyPr/>
          <a:lstStyle/>
          <a:p>
            <a:pPr>
              <a:buFont typeface="Wingdings" panose="05000000000000000000" pitchFamily="2" charset="2"/>
              <a:buChar char="Ø"/>
            </a:pPr>
            <a:r>
              <a:rPr lang="en-IN" b="1" dirty="0"/>
              <a:t>Ticket Volume &amp; Trends</a:t>
            </a:r>
          </a:p>
          <a:p>
            <a:r>
              <a:rPr lang="en-IN" b="1" dirty="0"/>
              <a:t>Average daily ticket volume</a:t>
            </a:r>
            <a:r>
              <a:rPr lang="en-IN" dirty="0"/>
              <a:t> → baseline workload.</a:t>
            </a:r>
          </a:p>
          <a:p>
            <a:r>
              <a:rPr lang="en-IN" b="1" dirty="0"/>
              <a:t>Ticket volume trend over time (daily, monthly, quarterly)</a:t>
            </a:r>
            <a:r>
              <a:rPr lang="en-IN" dirty="0"/>
              <a:t> → peak workload periods vs. stable times.</a:t>
            </a:r>
          </a:p>
          <a:p>
            <a:pPr>
              <a:buFont typeface="Wingdings" panose="05000000000000000000" pitchFamily="2" charset="2"/>
              <a:buChar char="Ø"/>
            </a:pPr>
            <a:r>
              <a:rPr lang="en-US" b="1" dirty="0"/>
              <a:t>Ticket Characteristics</a:t>
            </a:r>
          </a:p>
          <a:p>
            <a:r>
              <a:rPr lang="en-US" b="1" dirty="0"/>
              <a:t>Distribution by category/issue type (Login, System, Software, etc.)</a:t>
            </a:r>
            <a:r>
              <a:rPr lang="en-US" dirty="0"/>
              <a:t> → most common problem areas.</a:t>
            </a:r>
          </a:p>
          <a:p>
            <a:r>
              <a:rPr lang="en-US" b="1" dirty="0"/>
              <a:t>Severity vs. Resolution Time correlation</a:t>
            </a:r>
            <a:r>
              <a:rPr lang="en-US" dirty="0"/>
              <a:t> → higher severity tickets usually take longer, validating prioritization logic.</a:t>
            </a:r>
          </a:p>
          <a:p>
            <a:r>
              <a:rPr lang="en-US" b="1" dirty="0"/>
              <a:t>Priority analysis</a:t>
            </a:r>
            <a:r>
              <a:rPr lang="en-US" dirty="0"/>
              <a:t> → whether high-priority tickets are actually resolved faster.</a:t>
            </a:r>
          </a:p>
          <a:p>
            <a:pPr>
              <a:buFont typeface="Wingdings" panose="05000000000000000000" pitchFamily="2" charset="2"/>
              <a:buChar char="Ø"/>
            </a:pPr>
            <a:r>
              <a:rPr lang="en-US" b="1" dirty="0"/>
              <a:t>Agent Performance</a:t>
            </a:r>
          </a:p>
          <a:p>
            <a:r>
              <a:rPr lang="en-US" b="1" dirty="0"/>
              <a:t>Tickets handled per agent</a:t>
            </a:r>
            <a:r>
              <a:rPr lang="en-US" dirty="0"/>
              <a:t> → workload distribution (are some overloaded?).</a:t>
            </a:r>
          </a:p>
          <a:p>
            <a:r>
              <a:rPr lang="en-US" b="1" dirty="0"/>
              <a:t>Average resolution time per agent</a:t>
            </a:r>
            <a:r>
              <a:rPr lang="en-US" dirty="0"/>
              <a:t> → efficiency comparison.</a:t>
            </a:r>
          </a:p>
          <a:p>
            <a:r>
              <a:rPr lang="en-US" b="1" dirty="0"/>
              <a:t>Satisfaction scores per agent</a:t>
            </a:r>
            <a:r>
              <a:rPr lang="en-US" dirty="0"/>
              <a:t> → effectiveness &amp; soft-skill evaluation.</a:t>
            </a:r>
          </a:p>
          <a:p>
            <a:r>
              <a:rPr lang="en-US" dirty="0"/>
              <a:t>Identify </a:t>
            </a:r>
            <a:r>
              <a:rPr lang="en-US" b="1" dirty="0"/>
              <a:t>top performers</a:t>
            </a:r>
            <a:r>
              <a:rPr lang="en-US" dirty="0"/>
              <a:t> (fast + high satisfaction) and </a:t>
            </a:r>
            <a:r>
              <a:rPr lang="en-US" b="1" dirty="0"/>
              <a:t>low performers</a:t>
            </a:r>
            <a:r>
              <a:rPr lang="en-US" dirty="0"/>
              <a:t> (slow + low satisfaction).</a:t>
            </a:r>
          </a:p>
          <a:p>
            <a:r>
              <a:rPr lang="en-US" dirty="0"/>
              <a:t>Agents with poor metrics across multiple tickets → candidates for </a:t>
            </a:r>
            <a:r>
              <a:rPr lang="en-US" b="1" dirty="0"/>
              <a:t>training or performance review</a:t>
            </a:r>
            <a:r>
              <a:rPr lang="en-US" dirty="0"/>
              <a:t>.</a:t>
            </a:r>
          </a:p>
          <a:p>
            <a:endParaRPr lang="en-US" dirty="0"/>
          </a:p>
          <a:p>
            <a:endParaRPr lang="en-IN" dirty="0"/>
          </a:p>
          <a:p>
            <a:pPr marL="139700" indent="0">
              <a:buNone/>
            </a:pPr>
            <a:endParaRPr lang="en-IN" dirty="0"/>
          </a:p>
          <a:p>
            <a:endParaRPr lang="en-IN" dirty="0"/>
          </a:p>
        </p:txBody>
      </p:sp>
    </p:spTree>
    <p:extLst>
      <p:ext uri="{BB962C8B-B14F-4D97-AF65-F5344CB8AC3E}">
        <p14:creationId xmlns:p14="http://schemas.microsoft.com/office/powerpoint/2010/main" val="7064416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01AEDBC-9B2E-ADB5-66E8-E454D1AA914F}"/>
              </a:ext>
            </a:extLst>
          </p:cNvPr>
          <p:cNvSpPr>
            <a:spLocks noGrp="1"/>
          </p:cNvSpPr>
          <p:nvPr>
            <p:ph type="body" idx="1"/>
          </p:nvPr>
        </p:nvSpPr>
        <p:spPr>
          <a:xfrm>
            <a:off x="271463" y="521494"/>
            <a:ext cx="8560837" cy="4047381"/>
          </a:xfrm>
        </p:spPr>
        <p:txBody>
          <a:bodyPr/>
          <a:lstStyle/>
          <a:p>
            <a:pPr>
              <a:buFont typeface="Wingdings" panose="05000000000000000000" pitchFamily="2" charset="2"/>
              <a:buChar char="Ø"/>
            </a:pPr>
            <a:r>
              <a:rPr lang="en-US" b="1" dirty="0"/>
              <a:t>Satisfaction &amp; Service Quality</a:t>
            </a:r>
          </a:p>
          <a:p>
            <a:r>
              <a:rPr lang="en-US" b="1" dirty="0"/>
              <a:t>Trends in satisfaction over time</a:t>
            </a:r>
            <a:r>
              <a:rPr lang="en-US" dirty="0"/>
              <a:t> → whether service is improving or declining.</a:t>
            </a:r>
          </a:p>
          <a:p>
            <a:r>
              <a:rPr lang="en-US" b="1" dirty="0"/>
              <a:t>Satisfaction by request category</a:t>
            </a:r>
            <a:r>
              <a:rPr lang="en-US" dirty="0"/>
              <a:t> → some categories may frustrate employees more.</a:t>
            </a:r>
          </a:p>
          <a:p>
            <a:r>
              <a:rPr lang="en-US" b="1" dirty="0"/>
              <a:t>Agent-wise satisfaction</a:t>
            </a:r>
            <a:r>
              <a:rPr lang="en-US" dirty="0"/>
              <a:t> → highlights need for training in communication/technical skills.</a:t>
            </a:r>
          </a:p>
          <a:p>
            <a:pPr marL="139700" indent="0">
              <a:buNone/>
            </a:pPr>
            <a:endParaRPr lang="en-US" dirty="0"/>
          </a:p>
          <a:p>
            <a:pPr>
              <a:buFont typeface="Wingdings" panose="05000000000000000000" pitchFamily="2" charset="2"/>
              <a:buChar char="Ø"/>
            </a:pPr>
            <a:r>
              <a:rPr lang="en-US" b="1" dirty="0"/>
              <a:t>Segmentation Insights</a:t>
            </a:r>
          </a:p>
          <a:p>
            <a:r>
              <a:rPr lang="en-US" b="1" dirty="0"/>
              <a:t>By request category</a:t>
            </a:r>
            <a:r>
              <a:rPr lang="en-US" dirty="0"/>
              <a:t> → some categories may require dedicated specialists.</a:t>
            </a:r>
          </a:p>
          <a:p>
            <a:r>
              <a:rPr lang="en-US" b="1" dirty="0"/>
              <a:t>By severity/priority</a:t>
            </a:r>
            <a:r>
              <a:rPr lang="en-US" dirty="0"/>
              <a:t> → workload vs. SLA compliance.</a:t>
            </a:r>
          </a:p>
          <a:p>
            <a:r>
              <a:rPr lang="en-US" dirty="0"/>
              <a:t>Segmentation helps decide where to invest (e.g., if "Software" tickets take longest → invest in automation/training there).</a:t>
            </a:r>
          </a:p>
          <a:p>
            <a:pPr marL="139700" indent="0">
              <a:buNone/>
            </a:pPr>
            <a:endParaRPr lang="en-US" dirty="0"/>
          </a:p>
          <a:p>
            <a:pPr>
              <a:buFont typeface="Wingdings" panose="05000000000000000000" pitchFamily="2" charset="2"/>
              <a:buChar char="Ø"/>
            </a:pPr>
            <a:r>
              <a:rPr lang="en-US" b="1" dirty="0"/>
              <a:t>Decision-Making Insights</a:t>
            </a:r>
          </a:p>
          <a:p>
            <a:r>
              <a:rPr lang="en-US" b="1" dirty="0"/>
              <a:t>Hiring:</a:t>
            </a:r>
            <a:r>
              <a:rPr lang="en-US" dirty="0"/>
              <a:t> If peak loads cannot be met with current staff.</a:t>
            </a:r>
          </a:p>
          <a:p>
            <a:r>
              <a:rPr lang="en-US" b="1" dirty="0"/>
              <a:t>Training:</a:t>
            </a:r>
            <a:r>
              <a:rPr lang="en-US" dirty="0"/>
              <a:t> If specific agents/categories consistently show poor satisfaction or long resolution times.</a:t>
            </a:r>
          </a:p>
          <a:p>
            <a:r>
              <a:rPr lang="en-US" b="1" dirty="0"/>
              <a:t>Firing:</a:t>
            </a:r>
            <a:r>
              <a:rPr lang="en-US" dirty="0"/>
              <a:t> Only if consistent underperformance remains after training.</a:t>
            </a:r>
          </a:p>
          <a:p>
            <a:pPr marL="139700" indent="0">
              <a:buNone/>
            </a:pPr>
            <a:endParaRPr lang="en-US" dirty="0"/>
          </a:p>
          <a:p>
            <a:pPr marL="139700" indent="0">
              <a:buNone/>
            </a:pPr>
            <a:endParaRPr lang="en-US" dirty="0"/>
          </a:p>
          <a:p>
            <a:endParaRPr lang="en-IN" dirty="0"/>
          </a:p>
        </p:txBody>
      </p:sp>
    </p:spTree>
    <p:extLst>
      <p:ext uri="{BB962C8B-B14F-4D97-AF65-F5344CB8AC3E}">
        <p14:creationId xmlns:p14="http://schemas.microsoft.com/office/powerpoint/2010/main" val="40455601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344F0-BCBC-4721-48A1-2530C39D165A}"/>
              </a:ext>
            </a:extLst>
          </p:cNvPr>
          <p:cNvSpPr>
            <a:spLocks noGrp="1"/>
          </p:cNvSpPr>
          <p:nvPr>
            <p:ph type="title"/>
          </p:nvPr>
        </p:nvSpPr>
        <p:spPr>
          <a:xfrm>
            <a:off x="247406" y="-119332"/>
            <a:ext cx="8520600" cy="572700"/>
          </a:xfrm>
        </p:spPr>
        <p:txBody>
          <a:bodyPr/>
          <a:lstStyle/>
          <a:p>
            <a:pPr algn="ctr">
              <a:buNone/>
            </a:pPr>
            <a:r>
              <a:rPr lang="en-IN" sz="1800" b="1" dirty="0"/>
              <a:t>DASHBOARD</a:t>
            </a:r>
          </a:p>
        </p:txBody>
      </p:sp>
      <p:pic>
        <p:nvPicPr>
          <p:cNvPr id="5" name="Picture 4">
            <a:extLst>
              <a:ext uri="{FF2B5EF4-FFF2-40B4-BE49-F238E27FC236}">
                <a16:creationId xmlns:a16="http://schemas.microsoft.com/office/drawing/2014/main" id="{8C863FDC-9CCD-0E9A-1884-069F8AB76F9F}"/>
              </a:ext>
            </a:extLst>
          </p:cNvPr>
          <p:cNvPicPr>
            <a:picLocks noChangeAspect="1"/>
          </p:cNvPicPr>
          <p:nvPr/>
        </p:nvPicPr>
        <p:blipFill>
          <a:blip r:embed="rId2"/>
          <a:stretch>
            <a:fillRect/>
          </a:stretch>
        </p:blipFill>
        <p:spPr>
          <a:xfrm>
            <a:off x="128588" y="328613"/>
            <a:ext cx="8872537" cy="4719982"/>
          </a:xfrm>
          <a:prstGeom prst="rect">
            <a:avLst/>
          </a:prstGeom>
        </p:spPr>
      </p:pic>
    </p:spTree>
    <p:extLst>
      <p:ext uri="{BB962C8B-B14F-4D97-AF65-F5344CB8AC3E}">
        <p14:creationId xmlns:p14="http://schemas.microsoft.com/office/powerpoint/2010/main" val="24609076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B33D4-5FF4-022E-2494-AE7CF5CFCE57}"/>
              </a:ext>
            </a:extLst>
          </p:cNvPr>
          <p:cNvSpPr>
            <a:spLocks noGrp="1"/>
          </p:cNvSpPr>
          <p:nvPr>
            <p:ph type="title"/>
          </p:nvPr>
        </p:nvSpPr>
        <p:spPr>
          <a:xfrm>
            <a:off x="311700" y="145400"/>
            <a:ext cx="8520600" cy="572700"/>
          </a:xfrm>
        </p:spPr>
        <p:txBody>
          <a:bodyPr/>
          <a:lstStyle/>
          <a:p>
            <a:pPr>
              <a:buNone/>
            </a:pPr>
            <a:r>
              <a:rPr lang="en-IN" sz="2000" b="1" dirty="0"/>
              <a:t>Conclusion</a:t>
            </a:r>
          </a:p>
        </p:txBody>
      </p:sp>
      <p:sp>
        <p:nvSpPr>
          <p:cNvPr id="3" name="Text Placeholder 2">
            <a:extLst>
              <a:ext uri="{FF2B5EF4-FFF2-40B4-BE49-F238E27FC236}">
                <a16:creationId xmlns:a16="http://schemas.microsoft.com/office/drawing/2014/main" id="{C0B2DBC5-6D4F-C6ED-D283-58E4875A9D57}"/>
              </a:ext>
            </a:extLst>
          </p:cNvPr>
          <p:cNvSpPr>
            <a:spLocks noGrp="1"/>
          </p:cNvSpPr>
          <p:nvPr>
            <p:ph type="body" idx="1"/>
          </p:nvPr>
        </p:nvSpPr>
        <p:spPr>
          <a:xfrm>
            <a:off x="311700" y="923875"/>
            <a:ext cx="8520600" cy="3416400"/>
          </a:xfrm>
        </p:spPr>
        <p:txBody>
          <a:bodyPr/>
          <a:lstStyle/>
          <a:p>
            <a:pPr marL="139700" indent="0">
              <a:lnSpc>
                <a:spcPct val="150000"/>
              </a:lnSpc>
              <a:buNone/>
            </a:pPr>
            <a:r>
              <a:rPr lang="en-US" dirty="0"/>
              <a:t>The analysis of the IT support ticket management system reveals key strengths and areas for improvement in agent performance, ticket resolution efficiency, and employee satisfaction. While high-performing agents demonstrate quick resolution times and consistently strong satisfaction ratings, certain agents require additional training to improve both technical and soft skills. The data also highlights workload imbalances, peak ticket periods, and process inefficiencies that could be addressed through better staffing strategies and potential investments in technology upgrades. Overall, a combination of targeted training, optimized staffing during high-demand periods, and selective adoption of improved ticket management tools will enhance service quality, employee satisfaction, and the overall performance of the IT support team, enabling more informed and effective decision-making for the future.</a:t>
            </a:r>
            <a:endParaRPr lang="en-IN" dirty="0"/>
          </a:p>
        </p:txBody>
      </p:sp>
    </p:spTree>
    <p:extLst>
      <p:ext uri="{BB962C8B-B14F-4D97-AF65-F5344CB8AC3E}">
        <p14:creationId xmlns:p14="http://schemas.microsoft.com/office/powerpoint/2010/main" val="11722784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pic>
        <p:nvPicPr>
          <p:cNvPr id="163" name="Google Shape;163;p18"/>
          <p:cNvPicPr preferRelativeResize="0"/>
          <p:nvPr/>
        </p:nvPicPr>
        <p:blipFill rotWithShape="1">
          <a:blip r:embed="rId3">
            <a:alphaModFix/>
          </a:blip>
          <a:srcRect/>
          <a:stretch/>
        </p:blipFill>
        <p:spPr>
          <a:xfrm>
            <a:off x="1528750" y="857250"/>
            <a:ext cx="6086475" cy="3429000"/>
          </a:xfrm>
          <a:prstGeom prst="rect">
            <a:avLst/>
          </a:prstGeom>
          <a:noFill/>
          <a:ln>
            <a:noFill/>
          </a:ln>
        </p:spPr>
      </p:pic>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Gallery</Template>
  <TotalTime>150</TotalTime>
  <Words>2229</Words>
  <Application>Microsoft Office PowerPoint</Application>
  <PresentationFormat>On-screen Show (16:9)</PresentationFormat>
  <Paragraphs>172</Paragraphs>
  <Slides>24</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Lato</vt:lpstr>
      <vt:lpstr>Gill Sans MT</vt:lpstr>
      <vt:lpstr>Wingdings</vt:lpstr>
      <vt:lpstr>Times New Roman</vt:lpstr>
      <vt:lpstr>Gallery</vt:lpstr>
      <vt:lpstr>Spreadsheet Project: IT Ticket Analysis </vt:lpstr>
      <vt:lpstr>PowerPoint Presentation</vt:lpstr>
      <vt:lpstr>PowerPoint Presentation</vt:lpstr>
      <vt:lpstr>1. Evaluate IT Agent Performance  Measure productivity by analyzing tickets handled per agent.  Identify high performers and low performers.  2. Assess Ticket Resolution Efficiency  Track average and daily resolution times.  Compare resolution times across agents and ticket categories.  3. Analyze Employee Satisfaction  Monitor satisfaction levels linked to ticket resolution.  Correlate satisfaction with resolution speed and issue severity.    </vt:lpstr>
      <vt:lpstr>4. Identify Training Needs Detect agents with recurring performance gaps.  Flag agents who require additional support or mentoring.  5. Support Staffing Decisions  Provide data-driven insights for hiring additional agents.  Recommend firing or retraining underperforming agents.  6. Understand Ticket Trends &amp; Workload  Analyze ticket volumes over time to detect peak and stable periods.  Study distribution of issue types and categories (Login, System, Software, etc.).</vt:lpstr>
      <vt:lpstr>PowerPoint Presentation</vt:lpstr>
      <vt:lpstr>Methodology</vt:lpstr>
      <vt:lpstr>PowerPoint Presentation</vt:lpstr>
      <vt:lpstr>PowerPoint Presentation</vt:lpstr>
      <vt:lpstr>VISUALIZATIONS</vt:lpstr>
      <vt:lpstr>Yearly Ticket Distribution</vt:lpstr>
      <vt:lpstr>Tickets By Severity</vt:lpstr>
      <vt:lpstr>Distribution of Tickets Based On Resolution Time</vt:lpstr>
      <vt:lpstr>Distribution Of Tickets Based On Satisfaction Rate</vt:lpstr>
      <vt:lpstr>Training Requirement For Agents</vt:lpstr>
      <vt:lpstr>                                    From 2016–2020, both resolution time and satisfaction rate remained stable, showing dependable IT support operations. Average resolution time stayed between 4.4–4.8 days, indicating consistency but limited improvement in speed. Satisfaction rates gradually improved to 4.1–4.2 by 2019–2020, reflecting steady enhancement in user experience.    </vt:lpstr>
      <vt:lpstr>Satisfaction Rate By Age Group</vt:lpstr>
      <vt:lpstr>  1. Ticket Management:  Total Tickets Logged (count of Ticket_ID) Average Daily Ticket Volume (tickets/day) Ticket Volume Trend Over Time (line chart, monthly/quarterly) Ticket Category Distribution (bar/pie: Login, System, Software, etc.) Issue Type Distribution (IT Error, IT Request, etc.) Severity &amp; Priority Mix (stacked bar chart) Helps identify workload patterns &amp; peak demand periods. Average Resolution Time per Agent (compare against team average) Satisfaction Rate per Agent (heatmap or bar chart) Training Needs Flag (Yes/No → agents below satisfaction and above resolution average) Helps assess productivity &amp; identify training or resource gaps.  2. Agent Performance (Workforce View) Tickets Handled per Agent (bar chart)       </vt:lpstr>
      <vt:lpstr>    3. Service Quality (Customer View)   Average Resolution Time (overall trend) Average Satisfaction Rate (trend + distribution) Correlation: Severity vs. Resolution Time (scatter chart) Satisfaction Trend Over Time (line chart with threshold, e.g., &lt;80% flagged) Helps monitor how well IT is serving employees.   4. Strategic / Investment Decision Metrics Peak vs. Stable Periods (ticket volumes + satisfaction trends) Cost-Benefit Indicators: If hiring more agents → compare resolution time vs. volume spikes If training → compare flagged agents vs. improvement opportunities If upgrading tools → compare pre/post implementation trends (if data available)</vt:lpstr>
      <vt:lpstr>INSIGHTS</vt:lpstr>
      <vt:lpstr>PowerPoint Presentation</vt:lpstr>
      <vt:lpstr>DASHBOARD</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Ujwal Kumar</dc:creator>
  <cp:lastModifiedBy>Ujwal Kumar</cp:lastModifiedBy>
  <cp:revision>16</cp:revision>
  <dcterms:modified xsi:type="dcterms:W3CDTF">2026-07-02T16:13:29Z</dcterms:modified>
</cp:coreProperties>
</file>